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project turns Olist’s multi-table marketplace data into a consistent decision-support model. The presentation follows the supplied end-to-end project brief and distinguishes documented controls from findings that still require independent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control exception. State clearly that it is a documented aggregate gap, not proof of overpayment or loss. The dataset contains about 100,000 orders across nine linked CSV tables from 2016–2018.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guiding questions. The analysis should answer them with validated metric definitions and reproducible outputs, not dashboard decoration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Kaggle source description confirms approximately 100,000 orders from 2016 to 2018 and explains that customer_id is unique per order while customer_unique_id identifies the same person across repeat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simplified relationship model. The line labels are intentionally cautious: customer_id cardinality should be validated in the actual loaded model, and item/payment data are one-to-many from an order. The geolocation table is shown as a reference because deduplicating raw geolocation by ZIP prefix needs a documented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directly to the assignment. Make sure every stage has a reproducible artifact before final submission: notebook, SQL, ERD, Excel workbook, Power BI report, PDF report, and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Query diagnostics show these specific transformations. Emphasize they are potential risks rather than confirmed errors; the team should retain raw values and quantify how each transformation affects the final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addresses a critical source of confusion in the model. An order repeated in a table visual often reflects multiple item or payment rows, not necessarily an incorrect relationship. The safe pattern is to aggregate fact tables to the required grain before comparing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totals exactly as shown. The difference is 16,008,872.12 minus 15,843,553.24, which equals 165,318.88, approximately 1.04% of item plus freight value. These are documented checkpoints from previous work and not independently recalculated in this deck. Do not infer its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standard definitions to use consistently. Explain why payment and item totals differ by grain, why customer_unique_id is needed for repeat-customer counts, and why on-time delivery must state its denominator.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follows the required dashboard count in the brief. The dashboard pages later in the presentation are design blueprints. Their visual role is defined here; all headline values must be connected to validated measures in the final workbooks.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viewer from the headline KPIs to the trend and then to mix and recent orders. This is a design blueprint, not a representation of validated dashboard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designed for category managers and geography questions. Do not populate top rankings until results are verified against the current model and the ZIP-prefix geography transformation is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deep dive should let a reviewer move from aggregate totals to per-order exceptions. The existing R$165,318.88 gap is documented, but the dashboard should not state why it exists until the order-level exception table is inspected.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delivery and CX page should use the order lifecycle and review tables. Define on-time denominator and treatment of missing or invalid dates. Reviews should be segmented by service context; do not assert causality from correlation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distinguish the documented aggregate checkpoint from segment rankings that have not been independently recomputed. This improves credibility and matches the brief’s requirement for evidence-based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P1 controls should be completed before using the report for financial decisions. Operational and customer-experience analysis becomes much more reliable once the data quality and metric grain are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execution roadmap. Use week one to clear the financial reconciliation and key-quality gates, then standardize measures and complete all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mapped to the exact final deliverable list in the brief. It is a readiness checklist, not a claim that all eight files were attached or tested as part of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reaffirming the scope: historical dataset, documented control exception, clear caveats, and a proposed path to a reproducible, cross-platform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4D"/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56448" y="54864"/>
            <a:ext cx="3913632" cy="3913632"/>
          </a:xfrm>
          <a:prstGeom prst="ellipse">
            <a:avLst/>
          </a:prstGeom>
          <a:solidFill>
            <a:srgbClr val="122C67"/>
          </a:solidFill>
          <a:ln w="12700">
            <a:solidFill>
              <a:srgbClr val="122C6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438912"/>
            <a:ext cx="2980944" cy="2980944"/>
          </a:xfrm>
          <a:prstGeom prst="ellipse">
            <a:avLst/>
          </a:prstGeom>
          <a:solidFill>
            <a:srgbClr val="173A86"/>
          </a:solidFill>
          <a:ln w="12700">
            <a:solidFill>
              <a:srgbClr val="173A8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1078992"/>
            <a:ext cx="1572768" cy="1572768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480560"/>
            <a:ext cx="0" cy="109728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8432" y="4480560"/>
            <a:ext cx="0" cy="109728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41664" y="4480560"/>
            <a:ext cx="0" cy="109728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54896" y="4480560"/>
            <a:ext cx="0" cy="109728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8128" y="4480560"/>
            <a:ext cx="0" cy="109728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5074920"/>
            <a:ext cx="347472" cy="502920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9872" y="4663440"/>
            <a:ext cx="347472" cy="914400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33104" y="4864608"/>
            <a:ext cx="347472" cy="71323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6336" y="4279392"/>
            <a:ext cx="347472" cy="1298448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59568" y="4553712"/>
            <a:ext cx="347472" cy="1024128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488" y="3858768"/>
            <a:ext cx="822960" cy="-182880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3675888"/>
            <a:ext cx="576072" cy="118872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3794760"/>
            <a:ext cx="722376" cy="-685800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54896" y="3108960"/>
            <a:ext cx="676656" cy="219456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1552" y="3328416"/>
            <a:ext cx="640080" cy="-713232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2615184"/>
            <a:ext cx="612648" cy="219456"/>
          </a:xfrm>
          <a:prstGeom prst="line">
            <a:avLst/>
          </a:prstGeom>
          <a:noFill/>
          <a:ln w="25400">
            <a:solidFill>
              <a:srgbClr val="12B8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87768" y="3813048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3630168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749040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09176" y="3063240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5832" y="3282696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25912" y="2569464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0" y="2788920"/>
            <a:ext cx="91440" cy="914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486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0" descr="/mnt/data/olist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768096"/>
            <a:ext cx="1600200" cy="43891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13232" y="1901952"/>
            <a:ext cx="2057400" cy="256032"/>
          </a:xfrm>
          <a:prstGeom prst="roundRect">
            <a:avLst/>
          </a:prstGeom>
          <a:solidFill>
            <a:srgbClr val="183875"/>
          </a:solidFill>
          <a:ln w="12700">
            <a:solidFill>
              <a:srgbClr val="183875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191566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C8D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ANALYTICS</a:t>
            </a:r>
            <a:endParaRPr lang="en-US" sz="820" dirty="0"/>
          </a:p>
        </p:txBody>
      </p:sp>
      <p:sp>
        <p:nvSpPr>
          <p:cNvPr id="33" name="Text 30"/>
          <p:cNvSpPr txBox="1"/>
          <p:nvPr/>
        </p:nvSpPr>
        <p:spPr>
          <a:xfrm>
            <a:off x="713232" y="2450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400" kern="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" y="2852928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E-COMMERCE</a:t>
            </a:r>
            <a:endParaRPr lang="en-US" sz="3800" dirty="0"/>
          </a:p>
        </p:txBody>
      </p:sp>
      <p:sp>
        <p:nvSpPr>
          <p:cNvPr id="35" name="Text 32"/>
          <p:cNvSpPr txBox="1"/>
          <p:nvPr/>
        </p:nvSpPr>
        <p:spPr>
          <a:xfrm>
            <a:off x="713232" y="3529584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 PROJECT</a:t>
            </a:r>
            <a:endParaRPr lang="en-US" sz="3400" dirty="0"/>
          </a:p>
        </p:txBody>
      </p:sp>
      <p:sp>
        <p:nvSpPr>
          <p:cNvPr id="36" name="Shape 33"/>
          <p:cNvSpPr/>
          <p:nvPr/>
        </p:nvSpPr>
        <p:spPr>
          <a:xfrm>
            <a:off x="749808" y="4389120"/>
            <a:ext cx="914400" cy="5486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9072" y="4389120"/>
            <a:ext cx="493776" cy="5486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9808" y="46817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D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performance  •  Data quality  •  Delivery experience  •  Financial control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49808" y="59436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spc="130" kern="0" dirty="0">
                <a:solidFill>
                  <a:srgbClr val="8CA7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BRAZILIAN E-COMMERCE PUBLIC DATASET  |  2016–2018</a:t>
            </a:r>
            <a:endParaRPr lang="en-US" sz="870" dirty="0"/>
          </a:p>
        </p:txBody>
      </p:sp>
      <p:sp>
        <p:nvSpPr>
          <p:cNvPr id="40" name="Text 37"/>
          <p:cNvSpPr txBox="1"/>
          <p:nvPr/>
        </p:nvSpPr>
        <p:spPr>
          <a:xfrm>
            <a:off x="749808" y="62910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spc="140" kern="0" dirty="0">
                <a:solidFill>
                  <a:srgbClr val="8CA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PRESENTATION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/ EXECUTIVE TAKEAWAYS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strong analytical model starts with one question: can we trust the numbers?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combines commercial, operational, customer and financial-control views.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documented project control totals; Olist Kaggle dataset [1].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1618488"/>
            <a:ext cx="2240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618488"/>
            <a:ext cx="2240280" cy="5029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7282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SCALE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002536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~100K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42316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 • 2016–2018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2624328"/>
            <a:ext cx="1984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historical marketplace dataset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44368" y="1618488"/>
            <a:ext cx="2240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368" y="1618488"/>
            <a:ext cx="2240280" cy="5029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72384" y="1728216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RELATED TABLES</a:t>
            </a:r>
            <a:endParaRPr lang="en-US" sz="870" dirty="0"/>
          </a:p>
        </p:txBody>
      </p:sp>
      <p:sp>
        <p:nvSpPr>
          <p:cNvPr id="18" name="Text 16"/>
          <p:cNvSpPr txBox="1"/>
          <p:nvPr/>
        </p:nvSpPr>
        <p:spPr>
          <a:xfrm>
            <a:off x="3072384" y="2002536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3072384" y="2423160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Integrated model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072384" y="2624328"/>
            <a:ext cx="1984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Orders, items, payments, reviews + dimensions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21808" y="1618488"/>
            <a:ext cx="276148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1618488"/>
            <a:ext cx="2761488" cy="50292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9824" y="172821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EXCEPTION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5449824" y="200253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R$ 165.3K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449824" y="242316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1.04% of items + freight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449824" y="2624328"/>
            <a:ext cx="2505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total exceeds the documented items + freight total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247888" y="1618488"/>
            <a:ext cx="3319272" cy="1234440"/>
          </a:xfrm>
          <a:prstGeom prst="roundRect">
            <a:avLst/>
          </a:prstGeom>
          <a:solidFill>
            <a:srgbClr val="FFF5DC"/>
          </a:solidFill>
          <a:ln w="10160">
            <a:solidFill>
              <a:srgbClr val="F7D9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1618488"/>
            <a:ext cx="54864" cy="1234440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0" y="174650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10312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order-level differences before treating the financial totals as reconciled.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3273552"/>
            <a:ext cx="3520440" cy="2048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3474720"/>
            <a:ext cx="402336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34884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9319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Commercial performance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435254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order demand, item sales, freight and payment value over time, category and geography.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34256" y="3273552"/>
            <a:ext cx="3520440" cy="2048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7136" y="3474720"/>
            <a:ext cx="402336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90288" y="34884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39319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Operational reliability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17136" y="435254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delivery days, delays, missing/invalid date sequences and on-time delivery using a declared denominator.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01584" y="3273552"/>
            <a:ext cx="3520440" cy="2048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3474720"/>
            <a:ext cx="402336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57616" y="34884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8284464" y="39319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experience &amp; trust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284464" y="4352544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review scores with service outcomes and make data-quality risks visible rather than hiding them.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12648" y="5596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discipline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847088" y="5577840"/>
            <a:ext cx="9555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aggregate reconciliation checkpoint is presented as a numeric finding here; category/state rankings and dashboard KPI values should come from the refreshed model.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BUSINESS UNDERSTANDING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disconnected operational facts to decisions people can defend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 is not just to report totals; it is to align each calculation with the business question.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Final Project brief [2].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1627632"/>
            <a:ext cx="3675888" cy="4507992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65376"/>
            <a:ext cx="1481328" cy="256032"/>
          </a:xfrm>
          <a:prstGeom prst="roundRect">
            <a:avLst/>
          </a:prstGeom>
          <a:solidFill>
            <a:srgbClr val="214281"/>
          </a:solidFill>
          <a:ln w="12700">
            <a:solidFill>
              <a:srgbClr val="21428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187909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FE2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77440"/>
            <a:ext cx="3072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marketplace.</a:t>
            </a:r>
            <a:endParaRPr lang="en-US" sz="2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Multiple data grains.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75888"/>
            <a:ext cx="3017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D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Order, item, payment, location and review facts live in separate tables. If they are combined without an explicit grain, orders can be duplicated and totals become difficult to reconcile.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166360"/>
            <a:ext cx="2962656" cy="0"/>
          </a:xfrm>
          <a:prstGeom prst="line">
            <a:avLst/>
          </a:prstGeom>
          <a:noFill/>
          <a:ln w="12700">
            <a:solidFill>
              <a:srgbClr val="4663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3949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9FB9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SUCCESS MEANS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65099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Consistent KPIs • auditable transformations • action-ready dashboards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17136" y="166420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179222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GROWTH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208483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orders and item sales evolve over time?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66420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179222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MIX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08483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categories and regions contribute most?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17136" y="312724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81728" y="325526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354787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does payment value compare with item + freight totals?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312724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1312" y="325526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354787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long does delivery take and when is it late?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17136" y="459028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81728" y="471830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EXPERIENCE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4681728" y="501091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review scores vary by service outcomes?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4590288"/>
            <a:ext cx="325526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11312" y="471830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spc="120" kern="0" dirty="0">
                <a:solidFill>
                  <a:srgbClr val="FFB5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</a:t>
            </a:r>
            <a:endParaRPr lang="en-US" sz="78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5010912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order IDs explain reconciliation differences?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DATA FOUNDATION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Nine related tables create one connected view of the customer journey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Olist dataset links order lifecycle, product lines, payment records, sellers, customers and customer reviews.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Olist Kaggle dataset [1].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TRANSACTION TABLES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03504" y="1883664"/>
            <a:ext cx="2578608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883664"/>
            <a:ext cx="2578608" cy="5029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&amp; status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order_id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438144" y="1883664"/>
            <a:ext cx="2578608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8144" y="1883664"/>
            <a:ext cx="2578608" cy="5029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ITEMS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Product, seller, price &amp; freight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(order_id, order_item_id)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272784" y="1883664"/>
            <a:ext cx="2578608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883664"/>
            <a:ext cx="2578608" cy="50292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method, sequence &amp; value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(order_id, payment_sequential)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107424" y="1883664"/>
            <a:ext cx="2578608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7424" y="1883664"/>
            <a:ext cx="2578608" cy="50292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Scores, comments &amp; review dates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review_id / order_id</a:t>
            </a:r>
            <a:endParaRPr lang="en-US" sz="740" dirty="0"/>
          </a:p>
        </p:txBody>
      </p:sp>
      <p:sp>
        <p:nvSpPr>
          <p:cNvPr id="30" name="Text 28"/>
          <p:cNvSpPr txBox="1"/>
          <p:nvPr/>
        </p:nvSpPr>
        <p:spPr>
          <a:xfrm>
            <a:off x="603504" y="3447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/ LOOKUP TABLES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03504" y="3767328"/>
            <a:ext cx="2029968" cy="1280160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3E2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" y="391363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CUSTOMERS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722376" y="43159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" y="45902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customer_unique_id + location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2871216" y="3767328"/>
            <a:ext cx="2029968" cy="1280160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3E2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90088" y="391363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PRODUCTS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2990088" y="43159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product_id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45902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+ physical attributes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5138928" y="3767328"/>
            <a:ext cx="2029968" cy="1280160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3E2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57800" y="391363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SELLERS</a:t>
            </a:r>
            <a:endParaRPr lang="en-US" sz="88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43159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seller_id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45902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city / state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406640" y="3767328"/>
            <a:ext cx="2029968" cy="1280160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3E2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25512" y="391363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TRANSLATION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7525512" y="43159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product_category_name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7525512" y="45902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category label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9674352" y="3767328"/>
            <a:ext cx="2029968" cy="1280160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3E2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93224" y="391363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GEOLOCATION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9793224" y="43159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ZIP prefix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9793224" y="45902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Latitude / longitude / place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603504" y="5376672"/>
            <a:ext cx="10954512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504" y="5376672"/>
            <a:ext cx="54864" cy="66751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8096" y="5504688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COVERAGE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68096" y="5696712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Brazilian marketplace orders from 2016–2018; the public source describes approximately 100,000 orders and includes the nine CSV tables shown here.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DATA 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model is only as trustworthy as its keys and relationship grain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Simplified ERD of the nine-table source; validate cardinalities against the loaded model before sign-off.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Olist dataset schema and supplied Power Query model.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32888" y="2359152"/>
            <a:ext cx="320040" cy="0"/>
          </a:xfrm>
          <a:prstGeom prst="line">
            <a:avLst/>
          </a:prstGeom>
          <a:noFill/>
          <a:ln w="20320">
            <a:solidFill>
              <a:srgbClr val="1554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2359152"/>
            <a:ext cx="320040" cy="0"/>
          </a:xfrm>
          <a:prstGeom prst="line">
            <a:avLst/>
          </a:prstGeom>
          <a:noFill/>
          <a:ln w="20320">
            <a:solidFill>
              <a:srgbClr val="12B8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96328" y="2359152"/>
            <a:ext cx="301752" cy="0"/>
          </a:xfrm>
          <a:prstGeom prst="line">
            <a:avLst/>
          </a:prstGeom>
          <a:noFill/>
          <a:ln w="20320">
            <a:solidFill>
              <a:srgbClr val="12B8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2359152"/>
            <a:ext cx="338328" cy="0"/>
          </a:xfrm>
          <a:prstGeom prst="line">
            <a:avLst/>
          </a:prstGeom>
          <a:noFill/>
          <a:ln w="20320">
            <a:solidFill>
              <a:srgbClr val="A66A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3108960"/>
            <a:ext cx="0" cy="1225296"/>
          </a:xfrm>
          <a:prstGeom prst="line">
            <a:avLst/>
          </a:prstGeom>
          <a:noFill/>
          <a:ln w="17780">
            <a:solidFill>
              <a:srgbClr val="27A8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3108960"/>
            <a:ext cx="0" cy="384048"/>
          </a:xfrm>
          <a:prstGeom prst="line">
            <a:avLst/>
          </a:prstGeom>
          <a:noFill/>
          <a:ln w="16510">
            <a:solidFill>
              <a:srgbClr val="FF6B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3493008"/>
            <a:ext cx="1581912" cy="0"/>
          </a:xfrm>
          <a:prstGeom prst="line">
            <a:avLst/>
          </a:prstGeom>
          <a:noFill/>
          <a:ln w="16510">
            <a:solidFill>
              <a:srgbClr val="FF6B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493008"/>
            <a:ext cx="0" cy="841248"/>
          </a:xfrm>
          <a:prstGeom prst="line">
            <a:avLst/>
          </a:prstGeom>
          <a:noFill/>
          <a:ln w="16510">
            <a:solidFill>
              <a:srgbClr val="FF6B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4848" y="3108960"/>
            <a:ext cx="0" cy="667512"/>
          </a:xfrm>
          <a:prstGeom prst="line">
            <a:avLst/>
          </a:prstGeom>
          <a:noFill/>
          <a:ln w="16510">
            <a:solidFill>
              <a:srgbClr val="2F8C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3776472"/>
            <a:ext cx="1810512" cy="0"/>
          </a:xfrm>
          <a:prstGeom prst="line">
            <a:avLst/>
          </a:prstGeom>
          <a:noFill/>
          <a:ln w="16510">
            <a:solidFill>
              <a:srgbClr val="2F8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3776472"/>
            <a:ext cx="0" cy="557784"/>
          </a:xfrm>
          <a:prstGeom prst="line">
            <a:avLst/>
          </a:prstGeom>
          <a:noFill/>
          <a:ln w="16510">
            <a:solidFill>
              <a:srgbClr val="2F8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1737360"/>
            <a:ext cx="1965960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1737360"/>
            <a:ext cx="1965960" cy="5029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1856232"/>
            <a:ext cx="1746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CUSTOMERS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2121408"/>
            <a:ext cx="17465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customer_id</a:t>
            </a:r>
            <a:endParaRPr lang="en-US" sz="8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customer_unique_id</a:t>
            </a:r>
            <a:endParaRPr lang="en-US" sz="8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customer_city / state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852928" y="1737360"/>
            <a:ext cx="196596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52928" y="1737360"/>
            <a:ext cx="1965960" cy="50292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62656" y="1856232"/>
            <a:ext cx="1746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2962656" y="2121408"/>
            <a:ext cx="17465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order_id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 customer_id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order_status + lifecycle dates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38928" y="1737360"/>
            <a:ext cx="20574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1737360"/>
            <a:ext cx="2057400" cy="5029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48656" y="1856232"/>
            <a:ext cx="1837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ITEMS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5248656" y="2121408"/>
            <a:ext cx="1837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order_id + order_item_id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 product_id / seller_id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+ freight_value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0" y="1737360"/>
            <a:ext cx="1783080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1737360"/>
            <a:ext cx="1783080" cy="5029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07808" y="1856232"/>
            <a:ext cx="1563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PRODUCTS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7607808" y="2121408"/>
            <a:ext cx="1563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product_id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 product_category_name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619488" y="1737360"/>
            <a:ext cx="1920240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19488" y="1737360"/>
            <a:ext cx="1920240" cy="50292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29216" y="1856232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TRANSLATION</a:t>
            </a:r>
            <a:endParaRPr lang="en-US" sz="8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121408"/>
            <a:ext cx="1700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product_category_name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category label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66928" y="4334256"/>
            <a:ext cx="19659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334256"/>
            <a:ext cx="1965960" cy="50292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" y="4453128"/>
            <a:ext cx="1746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GEOLOCATION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676656" y="4718304"/>
            <a:ext cx="1746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ZIP prefix + lat/lng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only: verify ZIP-grain rule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52928" y="4334256"/>
            <a:ext cx="19659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52928" y="4334256"/>
            <a:ext cx="1965960" cy="50292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62656" y="4453128"/>
            <a:ext cx="1746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2962656" y="4718304"/>
            <a:ext cx="1746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order_id + payment_sequential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payment_value / type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138928" y="4334256"/>
            <a:ext cx="20574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38928" y="4334256"/>
            <a:ext cx="2057400" cy="50292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48656" y="4453128"/>
            <a:ext cx="1837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REVIEWS</a:t>
            </a:r>
            <a:endParaRPr lang="en-US" sz="840" dirty="0"/>
          </a:p>
        </p:txBody>
      </p:sp>
      <p:sp>
        <p:nvSpPr>
          <p:cNvPr id="51" name="Text 49"/>
          <p:cNvSpPr txBox="1"/>
          <p:nvPr/>
        </p:nvSpPr>
        <p:spPr>
          <a:xfrm>
            <a:off x="5248656" y="4718304"/>
            <a:ext cx="18379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review_id / order_id</a:t>
            </a:r>
            <a:endParaRPr lang="en-US" sz="7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review_score + dates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7607808" y="4334256"/>
            <a:ext cx="19659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07808" y="4334256"/>
            <a:ext cx="1965960" cy="50292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17536" y="4453128"/>
            <a:ext cx="1746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SELLERS</a:t>
            </a:r>
            <a:endParaRPr lang="en-US" sz="840" dirty="0"/>
          </a:p>
        </p:txBody>
      </p:sp>
      <p:sp>
        <p:nvSpPr>
          <p:cNvPr id="55" name="Text 53"/>
          <p:cNvSpPr txBox="1"/>
          <p:nvPr/>
        </p:nvSpPr>
        <p:spPr>
          <a:xfrm>
            <a:off x="7717536" y="4718304"/>
            <a:ext cx="1746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seller_id</a:t>
            </a:r>
            <a:endParaRPr lang="en-US" sz="7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seller_city / state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731520" y="3255264"/>
            <a:ext cx="2423160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4672" y="326898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customer_id: validate raw cardinality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3017520" y="3465576"/>
            <a:ext cx="1097280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090672" y="347929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order_id 1:*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285232" y="3657600"/>
            <a:ext cx="1078992" cy="256032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58384" y="367131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order_id 1:*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7342632" y="3794760"/>
            <a:ext cx="1051560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415784" y="380847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2F8CF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seller_id 1:*</a:t>
            </a:r>
            <a:endParaRPr lang="en-US" sz="720" dirty="0"/>
          </a:p>
        </p:txBody>
      </p:sp>
      <p:sp>
        <p:nvSpPr>
          <p:cNvPr id="64" name="Text 62"/>
          <p:cNvSpPr txBox="1"/>
          <p:nvPr/>
        </p:nvSpPr>
        <p:spPr>
          <a:xfrm>
            <a:off x="676656" y="5696712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identity rule: customer_id is assigned per order record; customer_unique_id identifies repeat buyers.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7772400" y="569671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 cardinalities require model-level validation.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METHODOLOGY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complete workflow connects every tool to a decision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sequence below mirrors the supplied project brief and keeps metric definitions consistent across platforms.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Final Project brief [2].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3504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48256"/>
            <a:ext cx="393192" cy="393192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UNDERSTAND</a:t>
            </a:r>
            <a:endParaRPr lang="en-US" sz="94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</a:t>
            </a:r>
            <a:endParaRPr lang="en-US" sz="82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the problem, owners and questions.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377440" y="3127248"/>
            <a:ext cx="82296" cy="0"/>
          </a:xfrm>
          <a:prstGeom prst="line">
            <a:avLst/>
          </a:prstGeom>
          <a:noFill/>
          <a:ln w="15240">
            <a:solidFill>
              <a:srgbClr val="C8D8E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96312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42616" y="2048256"/>
            <a:ext cx="393192" cy="393192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42616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642616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2642616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</a:t>
            </a:r>
            <a:endParaRPr lang="en-US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2642616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nulls, duplicates, types, outliers and trends.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270248" y="3127248"/>
            <a:ext cx="82296" cy="0"/>
          </a:xfrm>
          <a:prstGeom prst="line">
            <a:avLst/>
          </a:prstGeom>
          <a:noFill/>
          <a:ln w="15240">
            <a:solidFill>
              <a:srgbClr val="C8D8E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89120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5424" y="2048256"/>
            <a:ext cx="393192" cy="393192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5424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</a:t>
            </a:r>
            <a:endParaRPr lang="en-US" sz="94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Server / MySQL</a:t>
            </a:r>
            <a:endParaRPr lang="en-US" sz="82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ERD; validate keys; join and aggregate by grain.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163056" y="3127248"/>
            <a:ext cx="82296" cy="0"/>
          </a:xfrm>
          <a:prstGeom prst="line">
            <a:avLst/>
          </a:prstGeom>
          <a:noFill/>
          <a:ln w="15240">
            <a:solidFill>
              <a:srgbClr val="C8D8E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81928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2048256"/>
            <a:ext cx="393192" cy="393192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28232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6428232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</a:t>
            </a:r>
            <a:endParaRPr lang="en-US" sz="820" dirty="0"/>
          </a:p>
        </p:txBody>
      </p:sp>
      <p:sp>
        <p:nvSpPr>
          <p:cNvPr id="35" name="Text 33"/>
          <p:cNvSpPr txBox="1"/>
          <p:nvPr/>
        </p:nvSpPr>
        <p:spPr>
          <a:xfrm>
            <a:off x="6428232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Query, Data Model, KPIs and two interactive dashboards.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055864" y="3127248"/>
            <a:ext cx="82296" cy="0"/>
          </a:xfrm>
          <a:prstGeom prst="line">
            <a:avLst/>
          </a:prstGeom>
          <a:noFill/>
          <a:ln w="15240">
            <a:solidFill>
              <a:srgbClr val="C8D8E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74736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2048256"/>
            <a:ext cx="393192" cy="393192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1040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ANALYZE</a:t>
            </a:r>
            <a:endParaRPr lang="en-US" sz="94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F8CF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82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measures, semantic model and two deep-dive dashboards.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9948672" y="3127248"/>
            <a:ext cx="82296" cy="0"/>
          </a:xfrm>
          <a:prstGeom prst="line">
            <a:avLst/>
          </a:prstGeom>
          <a:noFill/>
          <a:ln w="15240">
            <a:solidFill>
              <a:srgbClr val="C8D8E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67544" y="1892808"/>
            <a:ext cx="175564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13848" y="2048256"/>
            <a:ext cx="393192" cy="393192"/>
          </a:xfrm>
          <a:prstGeom prst="ellipse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13848" y="210312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213848" y="2642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</a:t>
            </a:r>
            <a:endParaRPr lang="en-US" sz="940" dirty="0"/>
          </a:p>
        </p:txBody>
      </p:sp>
      <p:sp>
        <p:nvSpPr>
          <p:cNvPr id="48" name="Text 46"/>
          <p:cNvSpPr txBox="1"/>
          <p:nvPr/>
        </p:nvSpPr>
        <p:spPr>
          <a:xfrm>
            <a:off x="1021384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&amp; presentation</a:t>
            </a:r>
            <a:endParaRPr lang="en-US" sz="820" dirty="0"/>
          </a:p>
        </p:txBody>
      </p:sp>
      <p:sp>
        <p:nvSpPr>
          <p:cNvPr id="49" name="Text 47"/>
          <p:cNvSpPr txBox="1"/>
          <p:nvPr/>
        </p:nvSpPr>
        <p:spPr>
          <a:xfrm>
            <a:off x="10213848" y="3447288"/>
            <a:ext cx="1444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evidence, explain caveats and prioritize actions.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03504" y="4892040"/>
            <a:ext cx="10881360" cy="96012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" y="51023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CROSS-PLATFORM CONTROL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761488" y="50566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definitions  •  Same filters  •  Same totals  •  Documented exceptions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761488" y="540410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8D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supplied brief requires KPI and result consistency across Python, SQL, Excel and Power BI.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DATA QUALITY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 is a business decision—not a cosmetic step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transformations are documented in the supplied Power Query diagnostics; each should carry a traceable control.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Power Query diagnostic log and prior project report [3].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093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8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OBSERVED TRANSFORMATION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609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80" kern="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TO ANALYSIS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6093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8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TO ADD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1097280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0299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Negative prices → absolute value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02996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convert a credit or bad source value into a positive sale.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02996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 raw price; add a changed-row flag; verify against source.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9808" y="2514600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65176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Null price → 145.95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6517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imputation changes sales and average price.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651760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imputed rows; report sensitivity with/without imputation.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9808" y="3136392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182112"/>
            <a:ext cx="1097280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27355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Timestamp split to date</a:t>
            </a:r>
            <a:endParaRPr lang="en-US" sz="86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2735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Drops time-of-day information; elapsed time may change.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27355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 raw datetime and derive date-only fields separately.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" y="3758184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89534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Geolocation deduped by ZIP prefix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389534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retained coordinate may be arbitrary for a ZIP cluster.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895344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coordinates deterministically or document selection.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9808" y="4379976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425696"/>
            <a:ext cx="1097280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51713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City text replacements / encoding fixes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451713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replacements can mask encoding or mapping issues.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517136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raw text, profile affected rows and validate mapping.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9808" y="5001768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51389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 quality &amp; delay columns added</a:t>
            </a:r>
            <a:endParaRPr lang="en-US" sz="86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51389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Calculated flags can be wrong if business rules are unclear.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13892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valid sequence rules and null-denominator handling.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" y="5623560"/>
            <a:ext cx="10616184" cy="0"/>
          </a:xfrm>
          <a:prstGeom prst="line">
            <a:avLst/>
          </a:prstGeom>
          <a:noFill/>
          <a:ln w="5715">
            <a:solidFill>
              <a:srgbClr val="DBE5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5806440"/>
            <a:ext cx="10789920" cy="329184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" y="587959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13E3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Release gate: every imputation, correction and key-cleaning step must be counted, justified and reproducible.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METRIC INTEGRITY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order IDs repeat—and why that can be correct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 do not automatically collapse a detail table into one row per order. The visual’s grain is determined by its columns.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Olist dataset description [1]; project model checks [3].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252374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37360"/>
            <a:ext cx="2523744" cy="5486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9385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2258568"/>
            <a:ext cx="2231136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227228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row / order</a:t>
            </a:r>
            <a:endParaRPr lang="en-US" sz="74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660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• status • dates</a:t>
            </a:r>
            <a:endParaRPr lang="en-US" sz="82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0815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 orders here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56432" y="1737360"/>
            <a:ext cx="252374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6432" y="1737360"/>
            <a:ext cx="2523744" cy="5486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02736" y="19385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ITEMS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02736" y="2258568"/>
            <a:ext cx="2231136" cy="256032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227228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row / order line</a:t>
            </a:r>
            <a:endParaRPr lang="en-US" sz="74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2660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• order_item_id • price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3602736" y="30815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order may have many items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254496" y="1737360"/>
            <a:ext cx="252374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1737360"/>
            <a:ext cx="2523744" cy="5486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9385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258568"/>
            <a:ext cx="2231136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3952" y="227228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row / payment sequence</a:t>
            </a:r>
            <a:endParaRPr lang="en-US" sz="74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660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• payment_sequential • value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0815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order may have several payments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052560" y="1737360"/>
            <a:ext cx="2523744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1737360"/>
            <a:ext cx="2523744" cy="5486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19385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98864" y="2258568"/>
            <a:ext cx="2231136" cy="256032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72016" y="227228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record</a:t>
            </a:r>
            <a:endParaRPr lang="en-US" sz="74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2660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review_id • order_id • score</a:t>
            </a:r>
            <a:endParaRPr lang="en-US" sz="82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30815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 review grain from data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58368" y="3749040"/>
            <a:ext cx="2907792" cy="1444752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80" kern="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ILLUSTRATIVE ORDER 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" y="43159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order row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77824" y="4690872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C6D5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order_id = A-100  (example)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584448" y="4480560"/>
            <a:ext cx="731520" cy="0"/>
          </a:xfrm>
          <a:prstGeom prst="line">
            <a:avLst/>
          </a:prstGeom>
          <a:noFill/>
          <a:ln w="20320">
            <a:solidFill>
              <a:srgbClr val="2F8CF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334256" y="4480560"/>
            <a:ext cx="402336" cy="-329184"/>
          </a:xfrm>
          <a:prstGeom prst="line">
            <a:avLst/>
          </a:prstGeom>
          <a:noFill/>
          <a:ln w="17780">
            <a:solidFill>
              <a:srgbClr val="12B8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34256" y="4480560"/>
            <a:ext cx="402336" cy="0"/>
          </a:xfrm>
          <a:prstGeom prst="line">
            <a:avLst/>
          </a:prstGeom>
          <a:noFill/>
          <a:ln w="17780">
            <a:solidFill>
              <a:srgbClr val="12B8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4256" y="4480560"/>
            <a:ext cx="402336" cy="338328"/>
          </a:xfrm>
          <a:prstGeom prst="line">
            <a:avLst/>
          </a:prstGeom>
          <a:noFill/>
          <a:ln w="17780">
            <a:solidFill>
              <a:srgbClr val="12B8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005072"/>
            <a:ext cx="987552" cy="219456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9744" y="403250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1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754880" y="4325112"/>
            <a:ext cx="987552" cy="219456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09744" y="435254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2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754880" y="4645152"/>
            <a:ext cx="987552" cy="219456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09744" y="4672584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3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5943600" y="4480560"/>
            <a:ext cx="621792" cy="0"/>
          </a:xfrm>
          <a:prstGeom prst="line">
            <a:avLst/>
          </a:prstGeom>
          <a:noFill/>
          <a:ln w="19050">
            <a:solidFill>
              <a:srgbClr val="27A87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29400" y="4023360"/>
            <a:ext cx="1261872" cy="402336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11696" y="412394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1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629400" y="4535424"/>
            <a:ext cx="1261872" cy="402336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11696" y="463600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2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247888" y="3749040"/>
            <a:ext cx="3328416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7888" y="3749040"/>
            <a:ext cx="54864" cy="1444752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12480" y="3877056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PATTERN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412480" y="4233672"/>
            <a:ext cx="2999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items and payments independently by order_id before joining. Use DISTINCTCOUNT(order_id) for order volume; do not sum raw order measures after a fan-out join.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1520" y="565099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identity rule: customer_id is the order-specific record identifier; customer_unique_id is the repeat-buyer identifier.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VALIDATED CONTROL CHECKPOINT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 exceed item + freight totals by R$ 165,318.88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clearest documented quantitative exception in the project; the cause is not yet proven.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prior documented validation checkpoints [3]; not independently recomputed while authoring this deck.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700784"/>
            <a:ext cx="6620256" cy="4279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AGGREGATE CONTROL TOTALS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21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BRL / R$</a:t>
            </a:r>
            <a:endParaRPr lang="en-US" sz="74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60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Items + freight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2688" y="2852928"/>
            <a:ext cx="5166360" cy="438912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852928"/>
            <a:ext cx="4814912" cy="43891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0320" y="297180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R$ 15.844M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456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value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3749040"/>
            <a:ext cx="5166360" cy="438912"/>
          </a:xfrm>
          <a:prstGeom prst="round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749040"/>
            <a:ext cx="4865153" cy="43891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0561" y="386791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R$ 16.009M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47600" y="2761488"/>
            <a:ext cx="50241" cy="1517904"/>
          </a:xfrm>
          <a:prstGeom prst="line">
            <a:avLst/>
          </a:prstGeom>
          <a:noFill/>
          <a:ln w="19050">
            <a:solidFill>
              <a:srgbClr val="FF6B6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1832" y="4672584"/>
            <a:ext cx="2057400" cy="256032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68630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13C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TOTAL IS HIGHER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14807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Difference = payment value − (item price + freight)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5321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not label this as loss or overpayment until order-level causes are explained.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16368" y="1700784"/>
            <a:ext cx="3995928" cy="1865376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1993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spc="140" kern="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GAP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2377440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R$ 165,318.88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7790688" y="2971800"/>
            <a:ext cx="2724912" cy="256032"/>
          </a:xfrm>
          <a:prstGeom prst="roundRect">
            <a:avLst/>
          </a:prstGeom>
          <a:solidFill>
            <a:srgbClr val="214281"/>
          </a:solidFill>
          <a:ln w="12700">
            <a:solidFill>
              <a:srgbClr val="21428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29855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CE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1.04% OF ITEMS + FREIGHT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16368" y="3813048"/>
            <a:ext cx="3995928" cy="2167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16368" y="3813048"/>
            <a:ext cx="54864" cy="2167128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3941064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INVESTIGATION SEQUENCE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4315968"/>
            <a:ext cx="366674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Aggregate item + freight by order_id.</a:t>
            </a:r>
            <a:endParaRPr lang="en-US" sz="9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Aggregate payment_value by order_id.</a:t>
            </a:r>
            <a:endParaRPr lang="en-US" sz="9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Join the summaries and rank absolute differences.</a:t>
            </a:r>
            <a:endParaRPr lang="en-US" sz="9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354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Inspect cancellation, coverage, refund/adjustment and imputation cases.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KPI DICTIONARY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Define the metric before you design the chart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one definition across Python, SQL, Excel and Power BI; publish denominator and grain wherever it matters.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brief [2]; definitions are recommended standards for this model.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3504" y="1700784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700784"/>
            <a:ext cx="2560320" cy="50292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86537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TOTAL ORDERS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2402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Distinct count of orders[order_id]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2779776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90779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grain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3401568" y="1700784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700784"/>
            <a:ext cx="2560320" cy="50292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186537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SALES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2402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SUM of order_items[price]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2779776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47872" y="290779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grain; freight separate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199632" y="1700784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1700784"/>
            <a:ext cx="2560320" cy="50292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5936" y="186537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FREIGHT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22402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SUM of order_items[freight_value]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2779776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45936" y="290779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grain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8997696" y="1700784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1700784"/>
            <a:ext cx="2560320" cy="50292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0" y="186537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VALUE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24028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SUM of payments[payment_value]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0" y="2779776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0" y="290779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grain; may be multiple rows/order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603504" y="3703320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" y="3703320"/>
            <a:ext cx="2560320" cy="50292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386791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2F8CF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CUSTOMERS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424281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Distinct count of customers[customer_unique_id]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4782312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Repeat-buyer identity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3401568" y="3703320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01568" y="3703320"/>
            <a:ext cx="2560320" cy="50292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47872" y="386791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FFB52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DAYS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3547872" y="424281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Delivered date − purchase date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47872" y="4782312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47872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 calendar days vs elapsed hours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6199632" y="3703320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9632" y="3703320"/>
            <a:ext cx="2560320" cy="50292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5936" y="386791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ON-TIME RATE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6345936" y="424281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On-time delivered orders ÷ eligible delivered orders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45936" y="4782312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45936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Exclude missing dates; disclose denominator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8997696" y="3703320"/>
            <a:ext cx="25603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97696" y="3703320"/>
            <a:ext cx="2560320" cy="50292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144000" y="386791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spc="90" kern="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AVG REVIEW SCORE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9144000" y="424281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Average review_score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44000" y="4782312"/>
            <a:ext cx="2231136" cy="0"/>
          </a:xfrm>
          <a:prstGeom prst="line">
            <a:avLst/>
          </a:prstGeom>
          <a:noFill/>
          <a:ln w="7620">
            <a:solidFill>
              <a:srgbClr val="DBE5F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44000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grain and review coverage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621792" y="5861304"/>
            <a:ext cx="10917936" cy="310896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4672" y="5925312"/>
            <a:ext cx="10515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26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not combine raw order, order-item and payment amounts in a single visual without controlling for fan-out.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DASHBOARD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dashboard experiences—each with a distinct decision job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portfolio maps to the assignment requirement: two Excel dashboards and two Power BI deep-analysis dashboards.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Final Project brief [2].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755648"/>
            <a:ext cx="5358384" cy="1847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755648"/>
            <a:ext cx="91440" cy="184708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975104"/>
            <a:ext cx="438912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198882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0025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304288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670048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orders, item sales, freight, payments, customers and reviews.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72968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Audience: business stakeholders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99632" y="1755648"/>
            <a:ext cx="5358384" cy="1847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755648"/>
            <a:ext cx="91440" cy="1847088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975104"/>
            <a:ext cx="438912" cy="256032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9672" y="198882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025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0" kern="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304288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&amp; Geography Deep Dive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670048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contribution, city/state distribution, and seller footprint.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172968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Audience: commercial / category team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" y="3867912"/>
            <a:ext cx="5358384" cy="1847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867912"/>
            <a:ext cx="91440" cy="1847088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087368"/>
            <a:ext cx="438912" cy="256032"/>
          </a:xfrm>
          <a:prstGeom prst="roundRect">
            <a:avLst/>
          </a:prstGeom>
          <a:solidFill>
            <a:srgbClr val="F2EAFF"/>
          </a:solidFill>
          <a:ln w="12700">
            <a:solidFill>
              <a:srgbClr val="F2EA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" y="41010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1148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0" kern="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4165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&amp; Payment Deep Dive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782312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analysis, payment method mix, order-level reconciliation and exceptions.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285232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Audience: finance / commercial analyst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3867912"/>
            <a:ext cx="5358384" cy="1847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3867912"/>
            <a:ext cx="91440" cy="1847088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087368"/>
            <a:ext cx="438912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41010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1148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44165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&amp; Customer Experience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782312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duration, delay status, date-quality flags and review score patterns.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5285232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549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Audience: operations / CX team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704088" y="59893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 standard: Overview • Product &amp; Geography • Sales &amp; Payments • Delivery &amp; Customer Experience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1945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01  /  DESIGN BLUEPRINT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2062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 dashboard — Overview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7782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read on business scale and direction; use the same KPI definitions in Excel and Power BI.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469880" y="438912"/>
            <a:ext cx="1124712" cy="256032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3032" y="4526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936B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 CONCEPT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1283696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1097280" cy="475488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spc="100" kern="0" dirty="0">
                <a:solidFill>
                  <a:srgbClr val="AAC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594360" y="2295144"/>
            <a:ext cx="914400" cy="47548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50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331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74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0632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044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geo</a:t>
            </a:r>
            <a:endParaRPr lang="en-US" sz="74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764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pay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48970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&amp; CX</a:t>
            </a:r>
            <a:endParaRPr lang="en-US" sz="74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57881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16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9527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AA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2016–2018</a:t>
            </a:r>
            <a:endParaRPr lang="en-US" sz="67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150876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E-Commerce Performance Overview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92224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83664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336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8776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792224" y="6099048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layout. Numbers are intentionally omitted until validated DAX measures populate the visuals.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1792224" y="2304288"/>
            <a:ext cx="1417320" cy="576072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83664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</a:t>
            </a:r>
            <a:endParaRPr lang="en-US" sz="710" dirty="0"/>
          </a:p>
        </p:txBody>
      </p:sp>
      <p:sp>
        <p:nvSpPr>
          <p:cNvPr id="34" name="Text 32"/>
          <p:cNvSpPr txBox="1"/>
          <p:nvPr/>
        </p:nvSpPr>
        <p:spPr>
          <a:xfrm>
            <a:off x="188366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74136" y="2304288"/>
            <a:ext cx="1417320" cy="576072"/>
          </a:xfrm>
          <a:prstGeom prst="roundRect">
            <a:avLst/>
          </a:prstGeom>
          <a:solidFill>
            <a:srgbClr val="E5F8FB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65576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sales</a:t>
            </a:r>
            <a:endParaRPr lang="en-US" sz="710" dirty="0"/>
          </a:p>
        </p:txBody>
      </p:sp>
      <p:sp>
        <p:nvSpPr>
          <p:cNvPr id="37" name="Text 35"/>
          <p:cNvSpPr txBox="1"/>
          <p:nvPr/>
        </p:nvSpPr>
        <p:spPr>
          <a:xfrm>
            <a:off x="3465576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56048" y="2304288"/>
            <a:ext cx="1417320" cy="576072"/>
          </a:xfrm>
          <a:prstGeom prst="roundRect">
            <a:avLst/>
          </a:prstGeom>
          <a:solidFill>
            <a:srgbClr val="E5F6E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47488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Freight</a:t>
            </a:r>
            <a:endParaRPr lang="en-US" sz="710" dirty="0"/>
          </a:p>
        </p:txBody>
      </p:sp>
      <p:sp>
        <p:nvSpPr>
          <p:cNvPr id="40" name="Text 38"/>
          <p:cNvSpPr txBox="1"/>
          <p:nvPr/>
        </p:nvSpPr>
        <p:spPr>
          <a:xfrm>
            <a:off x="5047488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2304288"/>
            <a:ext cx="1417320" cy="576072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9400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71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19872" y="2304288"/>
            <a:ext cx="1417320" cy="576072"/>
          </a:xfrm>
          <a:prstGeom prst="roundRect">
            <a:avLst/>
          </a:prstGeom>
          <a:solidFill>
            <a:srgbClr val="F2EA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11312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buyers</a:t>
            </a:r>
            <a:endParaRPr lang="en-US" sz="710" dirty="0"/>
          </a:p>
        </p:txBody>
      </p:sp>
      <p:sp>
        <p:nvSpPr>
          <p:cNvPr id="46" name="Text 44"/>
          <p:cNvSpPr txBox="1"/>
          <p:nvPr/>
        </p:nvSpPr>
        <p:spPr>
          <a:xfrm>
            <a:off x="8211312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701784" y="2304288"/>
            <a:ext cx="1417320" cy="576072"/>
          </a:xfrm>
          <a:prstGeom prst="roundRect">
            <a:avLst/>
          </a:prstGeom>
          <a:solidFill>
            <a:srgbClr val="FFF5DC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93224" y="23865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score</a:t>
            </a:r>
            <a:endParaRPr lang="en-US" sz="710" dirty="0"/>
          </a:p>
        </p:txBody>
      </p:sp>
      <p:sp>
        <p:nvSpPr>
          <p:cNvPr id="49" name="Text 47"/>
          <p:cNvSpPr txBox="1"/>
          <p:nvPr/>
        </p:nvSpPr>
        <p:spPr>
          <a:xfrm>
            <a:off x="979322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792224" y="3054096"/>
            <a:ext cx="381304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01952" y="312724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 &amp; sales trend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1947672" y="4062222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47672" y="3812591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22780" y="4087185"/>
            <a:ext cx="455280" cy="-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78059" y="4020617"/>
            <a:ext cx="420258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98318" y="4070543"/>
            <a:ext cx="455280" cy="-2246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53597" y="3845875"/>
            <a:ext cx="385237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38834" y="3895801"/>
            <a:ext cx="420258" cy="-166421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59092" y="3729380"/>
            <a:ext cx="385237" cy="58247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4329" y="3787628"/>
            <a:ext cx="385237" cy="-199705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566" y="3587923"/>
            <a:ext cx="280172" cy="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33288" y="3054096"/>
            <a:ext cx="2340864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43016" y="312724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status mix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6248370" y="3496391"/>
            <a:ext cx="748894" cy="748894"/>
          </a:xfrm>
          <a:prstGeom prst="ellipse">
            <a:avLst/>
          </a:prstGeom>
          <a:solidFill>
            <a:srgbClr val="EAF1FD"/>
          </a:solidFill>
          <a:ln w="114300">
            <a:solidFill>
              <a:srgbClr val="27A87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13126" y="3661148"/>
            <a:ext cx="419380" cy="4193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08032" y="3529584"/>
            <a:ext cx="64008" cy="64008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17760" y="3502152"/>
            <a:ext cx="70225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208032" y="375818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317760" y="3730752"/>
            <a:ext cx="70225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B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7208032" y="3986784"/>
            <a:ext cx="64008" cy="64008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17760" y="3959352"/>
            <a:ext cx="70225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8202168" y="3054096"/>
            <a:ext cx="323697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11896" y="31272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 by state</a:t>
            </a:r>
            <a:endParaRPr lang="en-US" sz="820" dirty="0"/>
          </a:p>
        </p:txBody>
      </p:sp>
      <p:sp>
        <p:nvSpPr>
          <p:cNvPr id="74" name="Text 72"/>
          <p:cNvSpPr txBox="1"/>
          <p:nvPr/>
        </p:nvSpPr>
        <p:spPr>
          <a:xfrm>
            <a:off x="8311896" y="3465576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75" name="Shape 73"/>
          <p:cNvSpPr/>
          <p:nvPr/>
        </p:nvSpPr>
        <p:spPr>
          <a:xfrm>
            <a:off x="8513064" y="3465576"/>
            <a:ext cx="277977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13064" y="3465576"/>
            <a:ext cx="2390607" cy="9235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311896" y="363108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8513064" y="3631082"/>
            <a:ext cx="277977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13064" y="3631082"/>
            <a:ext cx="1945843" cy="9235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311896" y="3796589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81" name="Shape 79"/>
          <p:cNvSpPr/>
          <p:nvPr/>
        </p:nvSpPr>
        <p:spPr>
          <a:xfrm>
            <a:off x="8513064" y="3796589"/>
            <a:ext cx="277977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13064" y="3796589"/>
            <a:ext cx="1695663" cy="9235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311896" y="3962095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8513064" y="3962095"/>
            <a:ext cx="277977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13064" y="3962095"/>
            <a:ext cx="1250899" cy="9235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311896" y="412760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87" name="Shape 85"/>
          <p:cNvSpPr/>
          <p:nvPr/>
        </p:nvSpPr>
        <p:spPr>
          <a:xfrm>
            <a:off x="8513064" y="4127602"/>
            <a:ext cx="277977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13064" y="4127602"/>
            <a:ext cx="917326" cy="9235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92224" y="4517136"/>
            <a:ext cx="3054096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901952" y="4590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product categories</a:t>
            </a:r>
            <a:endParaRPr lang="en-US" sz="820" dirty="0"/>
          </a:p>
        </p:txBody>
      </p:sp>
      <p:sp>
        <p:nvSpPr>
          <p:cNvPr id="91" name="Text 89"/>
          <p:cNvSpPr txBox="1"/>
          <p:nvPr/>
        </p:nvSpPr>
        <p:spPr>
          <a:xfrm>
            <a:off x="1901952" y="4928616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2103120" y="4928616"/>
            <a:ext cx="2596896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03120" y="4928616"/>
            <a:ext cx="2233331" cy="7772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901952" y="5079492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95" name="Shape 93"/>
          <p:cNvSpPr/>
          <p:nvPr/>
        </p:nvSpPr>
        <p:spPr>
          <a:xfrm>
            <a:off x="2103120" y="5079492"/>
            <a:ext cx="2596896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03120" y="5079492"/>
            <a:ext cx="1817827" cy="7772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901952" y="5230368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2103120" y="5230368"/>
            <a:ext cx="2596896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3120" y="5230368"/>
            <a:ext cx="1584107" cy="7772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901952" y="5381244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101" name="Shape 99"/>
          <p:cNvSpPr/>
          <p:nvPr/>
        </p:nvSpPr>
        <p:spPr>
          <a:xfrm>
            <a:off x="2103120" y="5381244"/>
            <a:ext cx="2596896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03120" y="5381244"/>
            <a:ext cx="1168603" cy="7772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901952" y="5532120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2103120" y="5532120"/>
            <a:ext cx="2596896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103120" y="5532120"/>
            <a:ext cx="856976" cy="7772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65192" y="4517136"/>
            <a:ext cx="28346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074920" y="459028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method mix</a:t>
            </a:r>
            <a:endParaRPr lang="en-US" sz="820" dirty="0"/>
          </a:p>
        </p:txBody>
      </p:sp>
      <p:sp>
        <p:nvSpPr>
          <p:cNvPr id="108" name="Shape 106"/>
          <p:cNvSpPr/>
          <p:nvPr/>
        </p:nvSpPr>
        <p:spPr>
          <a:xfrm>
            <a:off x="5700827" y="4954311"/>
            <a:ext cx="683057" cy="683057"/>
          </a:xfrm>
          <a:prstGeom prst="ellipse">
            <a:avLst/>
          </a:prstGeom>
          <a:solidFill>
            <a:srgbClr val="EAF1FD"/>
          </a:solidFill>
          <a:ln w="114300">
            <a:solidFill>
              <a:srgbClr val="12B8D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51099" y="5104583"/>
            <a:ext cx="382512" cy="3825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51015" y="499262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860743" y="496519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751015" y="522122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860743" y="519379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B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751015" y="5449824"/>
            <a:ext cx="64008" cy="64008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860743" y="542239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918704" y="4517136"/>
            <a:ext cx="35204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028432" y="4590288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 orders table</a:t>
            </a:r>
            <a:endParaRPr lang="en-US" sz="820" dirty="0"/>
          </a:p>
        </p:txBody>
      </p:sp>
      <p:sp>
        <p:nvSpPr>
          <p:cNvPr id="118" name="Shape 116"/>
          <p:cNvSpPr/>
          <p:nvPr/>
        </p:nvSpPr>
        <p:spPr>
          <a:xfrm>
            <a:off x="8010144" y="4919472"/>
            <a:ext cx="3337560" cy="173736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065008" y="4974336"/>
            <a:ext cx="754380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122664" y="4974336"/>
            <a:ext cx="754380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180320" y="4974336"/>
            <a:ext cx="754380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10144" y="5120640"/>
            <a:ext cx="3337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65008" y="5175504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22664" y="5175504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180320" y="5175504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10144" y="5321808"/>
            <a:ext cx="3337560" cy="164592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65008" y="5376672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122664" y="5376672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180320" y="5376672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10144" y="5522976"/>
            <a:ext cx="3337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65008" y="5577840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122664" y="5577840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80320" y="5577840"/>
            <a:ext cx="754380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DESIGN BLUEPRINT • VALUES MUST COME FROM VALIDATED MEASURES</a:t>
            </a:r>
            <a:endParaRPr lang="en-US" sz="720" dirty="0"/>
          </a:p>
        </p:txBody>
      </p:sp>
      <p:sp>
        <p:nvSpPr>
          <p:cNvPr id="136" name="Text 134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1945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02  /  DESIGN BLUEPRINT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2062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 dashboard — Product &amp; Geography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7782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where value is generated and how demand differs by category, city and state.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469880" y="438912"/>
            <a:ext cx="1124712" cy="256032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3032" y="4526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936B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 CONCEPT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1283696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1097280" cy="475488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spc="100" kern="0" dirty="0">
                <a:solidFill>
                  <a:srgbClr val="AAC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50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31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94360" y="3008376"/>
            <a:ext cx="914400" cy="47548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0632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044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&amp; geo</a:t>
            </a:r>
            <a:endParaRPr lang="en-US" sz="74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764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pay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48970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&amp; CX</a:t>
            </a:r>
            <a:endParaRPr lang="en-US" sz="74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57881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16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9527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AA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2016–2018</a:t>
            </a:r>
            <a:endParaRPr lang="en-US" sz="67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150876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&amp; Market Exploration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92224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83664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336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8776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792224" y="6099048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layout. Numbers are intentionally omitted until validated DAX measures populate the visuals.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1792224" y="2304288"/>
            <a:ext cx="2121408" cy="576072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01952" y="238658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count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1901952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23944" y="2304288"/>
            <a:ext cx="2121408" cy="576072"/>
          </a:xfrm>
          <a:prstGeom prst="roundRect">
            <a:avLst/>
          </a:prstGeom>
          <a:solidFill>
            <a:srgbClr val="E5F8FB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33672" y="238658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category share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4233672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55664" y="2304288"/>
            <a:ext cx="2121408" cy="576072"/>
          </a:xfrm>
          <a:prstGeom prst="roundRect">
            <a:avLst/>
          </a:prstGeom>
          <a:solidFill>
            <a:srgbClr val="F2EA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65392" y="238658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State coverage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6565392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87384" y="2304288"/>
            <a:ext cx="2121408" cy="576072"/>
          </a:xfrm>
          <a:prstGeom prst="roundRect">
            <a:avLst/>
          </a:prstGeom>
          <a:solidFill>
            <a:srgbClr val="E5F6E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97112" y="238658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 count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8897112" y="258775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792224" y="3054096"/>
            <a:ext cx="342900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01952" y="3127248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by product category (Top 10)</a:t>
            </a:r>
            <a:endParaRPr lang="en-US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1901952" y="3465576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47" name="Shape 45"/>
          <p:cNvSpPr/>
          <p:nvPr/>
        </p:nvSpPr>
        <p:spPr>
          <a:xfrm>
            <a:off x="2103120" y="3465576"/>
            <a:ext cx="297180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03120" y="3465576"/>
            <a:ext cx="2555748" cy="9235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01952" y="363108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2103120" y="3631082"/>
            <a:ext cx="297180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03120" y="3631082"/>
            <a:ext cx="2080260" cy="9235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901952" y="3796589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53" name="Shape 51"/>
          <p:cNvSpPr/>
          <p:nvPr/>
        </p:nvSpPr>
        <p:spPr>
          <a:xfrm>
            <a:off x="2103120" y="3796589"/>
            <a:ext cx="297180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03120" y="3796589"/>
            <a:ext cx="1812798" cy="9235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01952" y="3962095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2103120" y="3962095"/>
            <a:ext cx="297180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03120" y="3962095"/>
            <a:ext cx="1337310" cy="9235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01952" y="412760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59" name="Shape 57"/>
          <p:cNvSpPr/>
          <p:nvPr/>
        </p:nvSpPr>
        <p:spPr>
          <a:xfrm>
            <a:off x="2103120" y="4127602"/>
            <a:ext cx="297180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03120" y="4127602"/>
            <a:ext cx="980694" cy="9235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3054096"/>
            <a:ext cx="28803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49824" y="3127248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 by state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973775" y="3537996"/>
            <a:ext cx="720090" cy="266273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49847" y="3587923"/>
            <a:ext cx="892912" cy="208026"/>
          </a:xfrm>
          <a:prstGeom prst="roundRect">
            <a:avLst/>
          </a:prstGeom>
          <a:solidFill>
            <a:srgbClr val="D8E6FB"/>
          </a:solidFill>
          <a:ln w="12700">
            <a:solidFill>
              <a:srgbClr val="D8E6FB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75400" y="3795949"/>
            <a:ext cx="950519" cy="208026"/>
          </a:xfrm>
          <a:prstGeom prst="roundRect">
            <a:avLst/>
          </a:prstGeom>
          <a:solidFill>
            <a:srgbClr val="BED5FA"/>
          </a:solidFill>
          <a:ln w="12700">
            <a:solidFill>
              <a:srgbClr val="BED5F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66687" y="3812591"/>
            <a:ext cx="576072" cy="166421"/>
          </a:xfrm>
          <a:prstGeom prst="roundRect">
            <a:avLst/>
          </a:prstGeom>
          <a:solidFill>
            <a:srgbClr val="86B3F5"/>
          </a:solidFill>
          <a:ln w="12700">
            <a:solidFill>
              <a:srgbClr val="86B3F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78651" y="4003975"/>
            <a:ext cx="316840" cy="166421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570525" y="4170396"/>
            <a:ext cx="23618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State-level view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8339328" y="3054096"/>
            <a:ext cx="309981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49056" y="312724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cities by orders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8449056" y="3465576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8650224" y="3465576"/>
            <a:ext cx="264261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50224" y="3465576"/>
            <a:ext cx="2272650" cy="9235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449056" y="363108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75" name="Shape 73"/>
          <p:cNvSpPr/>
          <p:nvPr/>
        </p:nvSpPr>
        <p:spPr>
          <a:xfrm>
            <a:off x="8650224" y="3631082"/>
            <a:ext cx="264261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50224" y="3631082"/>
            <a:ext cx="1849831" cy="9235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449056" y="3796589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8650224" y="3796589"/>
            <a:ext cx="264261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50224" y="3796589"/>
            <a:ext cx="1611996" cy="9235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449056" y="3962095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81" name="Shape 79"/>
          <p:cNvSpPr/>
          <p:nvPr/>
        </p:nvSpPr>
        <p:spPr>
          <a:xfrm>
            <a:off x="8650224" y="3962095"/>
            <a:ext cx="264261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50224" y="3962095"/>
            <a:ext cx="1189177" cy="9235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449056" y="412760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8650224" y="4127602"/>
            <a:ext cx="2642616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50224" y="4127602"/>
            <a:ext cx="872063" cy="9235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92224" y="4517136"/>
            <a:ext cx="367588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901952" y="45902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Seller distribution by state</a:t>
            </a:r>
            <a:endParaRPr lang="en-US" sz="820" dirty="0"/>
          </a:p>
        </p:txBody>
      </p:sp>
      <p:sp>
        <p:nvSpPr>
          <p:cNvPr id="88" name="Text 86"/>
          <p:cNvSpPr txBox="1"/>
          <p:nvPr/>
        </p:nvSpPr>
        <p:spPr>
          <a:xfrm>
            <a:off x="1901952" y="4928616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89" name="Shape 87"/>
          <p:cNvSpPr/>
          <p:nvPr/>
        </p:nvSpPr>
        <p:spPr>
          <a:xfrm>
            <a:off x="2103120" y="4928616"/>
            <a:ext cx="3218688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03120" y="4928616"/>
            <a:ext cx="2768072" cy="77724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901952" y="5079492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2103120" y="5079492"/>
            <a:ext cx="3218688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03120" y="5079492"/>
            <a:ext cx="2253082" cy="77724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901952" y="5230368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95" name="Shape 93"/>
          <p:cNvSpPr/>
          <p:nvPr/>
        </p:nvSpPr>
        <p:spPr>
          <a:xfrm>
            <a:off x="2103120" y="5230368"/>
            <a:ext cx="3218688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03120" y="5230368"/>
            <a:ext cx="1963400" cy="77724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901952" y="5381244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2103120" y="5381244"/>
            <a:ext cx="3218688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3120" y="5381244"/>
            <a:ext cx="1448410" cy="77724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901952" y="5532120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101" name="Shape 99"/>
          <p:cNvSpPr/>
          <p:nvPr/>
        </p:nvSpPr>
        <p:spPr>
          <a:xfrm>
            <a:off x="2103120" y="5532120"/>
            <a:ext cx="3218688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03120" y="5532120"/>
            <a:ext cx="1062167" cy="77724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596128" y="4517136"/>
            <a:ext cx="263347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705856" y="459028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Freight vs item sales</a:t>
            </a:r>
            <a:endParaRPr lang="en-US" sz="820" dirty="0"/>
          </a:p>
        </p:txBody>
      </p:sp>
      <p:sp>
        <p:nvSpPr>
          <p:cNvPr id="105" name="Shape 103"/>
          <p:cNvSpPr/>
          <p:nvPr/>
        </p:nvSpPr>
        <p:spPr>
          <a:xfrm>
            <a:off x="5742432" y="4974336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29528" y="5364203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516624" y="5141422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03720" y="5531289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90816" y="5308508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77912" y="5085727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742432" y="5475593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29528" y="5252812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16624" y="5030031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03720" y="5419898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90816" y="5197117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677912" y="4974336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42432" y="5364203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129528" y="5141422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16624" y="5531289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903720" y="5308508"/>
            <a:ext cx="54864" cy="54864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90816" y="5085727"/>
            <a:ext cx="54864" cy="5486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677912" y="5475593"/>
            <a:ext cx="54864" cy="5486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357616" y="4517136"/>
            <a:ext cx="308152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467344" y="4590288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detail table</a:t>
            </a:r>
            <a:endParaRPr lang="en-US" sz="820" dirty="0"/>
          </a:p>
        </p:txBody>
      </p:sp>
      <p:sp>
        <p:nvSpPr>
          <p:cNvPr id="125" name="Shape 123"/>
          <p:cNvSpPr/>
          <p:nvPr/>
        </p:nvSpPr>
        <p:spPr>
          <a:xfrm>
            <a:off x="8449056" y="4919472"/>
            <a:ext cx="2898648" cy="173736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03920" y="4974336"/>
            <a:ext cx="644652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415272" y="4974336"/>
            <a:ext cx="644652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326624" y="4974336"/>
            <a:ext cx="644652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49056" y="5120640"/>
            <a:ext cx="289864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503920" y="5175504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415272" y="5175504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326624" y="5175504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49056" y="5321808"/>
            <a:ext cx="2898648" cy="164592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503920" y="5376672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15272" y="5376672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326624" y="5376672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449056" y="5522976"/>
            <a:ext cx="289864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03920" y="5577840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15272" y="5577840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326624" y="5577840"/>
            <a:ext cx="644652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DESIGN BLUEPRINT • TOP RANKINGS REQUIRE VERIFIED QUERY OUTPUT</a:t>
            </a:r>
            <a:endParaRPr lang="en-US" sz="720" dirty="0"/>
          </a:p>
        </p:txBody>
      </p:sp>
      <p:sp>
        <p:nvSpPr>
          <p:cNvPr id="143" name="Text 141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1945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03  /  DESIGN BLUEPRINT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2062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— Sales &amp; Payment Deep Dive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7782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trends and mix, then move from the total reconciliation gap to the specific orders driving it.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469880" y="438912"/>
            <a:ext cx="1124712" cy="256032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3032" y="4526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936B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 CONCEPT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1283696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1097280" cy="475488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spc="100" kern="0" dirty="0">
                <a:solidFill>
                  <a:srgbClr val="AAC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50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31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74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632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044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geo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594360" y="3721608"/>
            <a:ext cx="914400" cy="47548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7764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&amp; pay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48970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&amp; CX</a:t>
            </a:r>
            <a:endParaRPr lang="en-US" sz="74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57881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16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9527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AA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2016–2018</a:t>
            </a:r>
            <a:endParaRPr lang="en-US" sz="67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150876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Commercial Performance &amp; Reconciliation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92224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83664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336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8776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792224" y="6099048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layout. Numbers are intentionally omitted until validated DAX measures populate the visuals.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1792224" y="2304288"/>
            <a:ext cx="1719072" cy="576072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83664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Item sales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1883664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85032" y="2304288"/>
            <a:ext cx="1719072" cy="576072"/>
          </a:xfrm>
          <a:prstGeom prst="roundRect">
            <a:avLst/>
          </a:prstGeom>
          <a:solidFill>
            <a:srgbClr val="E5F8FB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76472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Freight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3776472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304288"/>
            <a:ext cx="1719072" cy="576072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0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value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70648" y="2304288"/>
            <a:ext cx="1719072" cy="576072"/>
          </a:xfrm>
          <a:prstGeom prst="roundRect">
            <a:avLst/>
          </a:prstGeom>
          <a:solidFill>
            <a:srgbClr val="FFF5DC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62088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Reconciliation gap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7562088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63456" y="2304288"/>
            <a:ext cx="1719072" cy="576072"/>
          </a:xfrm>
          <a:prstGeom prst="roundRect">
            <a:avLst/>
          </a:prstGeom>
          <a:solidFill>
            <a:srgbClr val="F2EA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54896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</a:t>
            </a:r>
            <a:endParaRPr lang="en-US" sz="720" dirty="0"/>
          </a:p>
        </p:txBody>
      </p:sp>
      <p:sp>
        <p:nvSpPr>
          <p:cNvPr id="46" name="Text 44"/>
          <p:cNvSpPr txBox="1"/>
          <p:nvPr/>
        </p:nvSpPr>
        <p:spPr>
          <a:xfrm>
            <a:off x="9454896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92224" y="3054096"/>
            <a:ext cx="381304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01952" y="312724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/ freight / payment trend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947672" y="4062222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47672" y="3812591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22780" y="4087185"/>
            <a:ext cx="455280" cy="-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78059" y="4020617"/>
            <a:ext cx="420258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98318" y="4070543"/>
            <a:ext cx="455280" cy="-2246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3597" y="3845875"/>
            <a:ext cx="385237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38834" y="3895801"/>
            <a:ext cx="420258" cy="-166421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9092" y="3729380"/>
            <a:ext cx="385237" cy="58247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4329" y="3787628"/>
            <a:ext cx="385237" cy="-199705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566" y="3587923"/>
            <a:ext cx="280172" cy="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33288" y="3054096"/>
            <a:ext cx="253288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843016" y="312724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method share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321339" y="3496391"/>
            <a:ext cx="748894" cy="748894"/>
          </a:xfrm>
          <a:prstGeom prst="ellipse">
            <a:avLst/>
          </a:prstGeom>
          <a:solidFill>
            <a:srgbClr val="EAF1FD"/>
          </a:solidFill>
          <a:ln w="114300">
            <a:solidFill>
              <a:srgbClr val="12B8D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6095" y="3661148"/>
            <a:ext cx="419380" cy="4193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29007" y="352958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38735" y="3502152"/>
            <a:ext cx="7598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7329007" y="375818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438735" y="3730752"/>
            <a:ext cx="7598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B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7329007" y="3986784"/>
            <a:ext cx="64008" cy="64008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438735" y="3959352"/>
            <a:ext cx="7598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8375904" y="3054096"/>
            <a:ext cx="306324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85632" y="3127248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Reconciliation by status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8485632" y="3465576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8686800" y="3465576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86800" y="3465576"/>
            <a:ext cx="2241194" cy="9235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485632" y="363108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75" name="Shape 73"/>
          <p:cNvSpPr/>
          <p:nvPr/>
        </p:nvSpPr>
        <p:spPr>
          <a:xfrm>
            <a:off x="8686800" y="3631082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86800" y="3631082"/>
            <a:ext cx="1824228" cy="9235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485632" y="3796589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8686800" y="3796589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6800" y="3796589"/>
            <a:ext cx="1589684" cy="9235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485632" y="3962095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81" name="Shape 79"/>
          <p:cNvSpPr/>
          <p:nvPr/>
        </p:nvSpPr>
        <p:spPr>
          <a:xfrm>
            <a:off x="8686800" y="3962095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86800" y="3962095"/>
            <a:ext cx="1172718" cy="9235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485632" y="412760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8686800" y="4127602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86800" y="4127602"/>
            <a:ext cx="859993" cy="92354"/>
          </a:xfrm>
          <a:prstGeom prst="roundRect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92224" y="4517136"/>
            <a:ext cx="3794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901952" y="4590288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Largest order-level differences</a:t>
            </a:r>
            <a:endParaRPr lang="en-US" sz="820" dirty="0"/>
          </a:p>
        </p:txBody>
      </p:sp>
      <p:sp>
        <p:nvSpPr>
          <p:cNvPr id="88" name="Text 86"/>
          <p:cNvSpPr txBox="1"/>
          <p:nvPr/>
        </p:nvSpPr>
        <p:spPr>
          <a:xfrm>
            <a:off x="1901952" y="4928616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89" name="Shape 87"/>
          <p:cNvSpPr/>
          <p:nvPr/>
        </p:nvSpPr>
        <p:spPr>
          <a:xfrm>
            <a:off x="2103120" y="4928616"/>
            <a:ext cx="3337560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03120" y="4928616"/>
            <a:ext cx="2870302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901952" y="5079492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2103120" y="5079492"/>
            <a:ext cx="3337560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03120" y="5079492"/>
            <a:ext cx="2336292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901952" y="5230368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95" name="Shape 93"/>
          <p:cNvSpPr/>
          <p:nvPr/>
        </p:nvSpPr>
        <p:spPr>
          <a:xfrm>
            <a:off x="2103120" y="5230368"/>
            <a:ext cx="3337560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03120" y="5230368"/>
            <a:ext cx="2035912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901952" y="5381244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2103120" y="5381244"/>
            <a:ext cx="3337560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3120" y="5381244"/>
            <a:ext cx="1501902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901952" y="5532120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101" name="Shape 99"/>
          <p:cNvSpPr/>
          <p:nvPr/>
        </p:nvSpPr>
        <p:spPr>
          <a:xfrm>
            <a:off x="2103120" y="5532120"/>
            <a:ext cx="3337560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03120" y="5532120"/>
            <a:ext cx="1101395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24144" y="4517136"/>
            <a:ext cx="258775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833872" y="45902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type / installments</a:t>
            </a:r>
            <a:endParaRPr lang="en-US" sz="820" dirty="0"/>
          </a:p>
        </p:txBody>
      </p:sp>
      <p:sp>
        <p:nvSpPr>
          <p:cNvPr id="105" name="Shape 103"/>
          <p:cNvSpPr/>
          <p:nvPr/>
        </p:nvSpPr>
        <p:spPr>
          <a:xfrm>
            <a:off x="6365961" y="4954311"/>
            <a:ext cx="683057" cy="683057"/>
          </a:xfrm>
          <a:prstGeom prst="ellipse">
            <a:avLst/>
          </a:prstGeom>
          <a:solidFill>
            <a:srgbClr val="EAF1FD"/>
          </a:solidFill>
          <a:ln w="114300">
            <a:solidFill>
              <a:srgbClr val="2F8CF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16234" y="5104583"/>
            <a:ext cx="382512" cy="3825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54428" y="4992624"/>
            <a:ext cx="64008" cy="64008"/>
          </a:xfrm>
          <a:prstGeom prst="ellipse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464156" y="4965192"/>
            <a:ext cx="77632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</a:t>
            </a:r>
            <a:endParaRPr lang="en-US" sz="660" dirty="0"/>
          </a:p>
        </p:txBody>
      </p:sp>
      <p:sp>
        <p:nvSpPr>
          <p:cNvPr id="109" name="Shape 107"/>
          <p:cNvSpPr/>
          <p:nvPr/>
        </p:nvSpPr>
        <p:spPr>
          <a:xfrm>
            <a:off x="7354428" y="522122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464156" y="5193792"/>
            <a:ext cx="77632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B</a:t>
            </a:r>
            <a:endParaRPr lang="en-US" sz="660" dirty="0"/>
          </a:p>
        </p:txBody>
      </p:sp>
      <p:sp>
        <p:nvSpPr>
          <p:cNvPr id="111" name="Shape 109"/>
          <p:cNvSpPr/>
          <p:nvPr/>
        </p:nvSpPr>
        <p:spPr>
          <a:xfrm>
            <a:off x="7354428" y="5449824"/>
            <a:ext cx="64008" cy="64008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464156" y="5422392"/>
            <a:ext cx="77632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660" dirty="0"/>
          </a:p>
        </p:txBody>
      </p:sp>
      <p:sp>
        <p:nvSpPr>
          <p:cNvPr id="113" name="Shape 111"/>
          <p:cNvSpPr/>
          <p:nvPr/>
        </p:nvSpPr>
        <p:spPr>
          <a:xfrm>
            <a:off x="8439912" y="4517136"/>
            <a:ext cx="299923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549640" y="4590288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Exception drill-through table</a:t>
            </a:r>
            <a:endParaRPr lang="en-US" sz="820" dirty="0"/>
          </a:p>
        </p:txBody>
      </p:sp>
      <p:sp>
        <p:nvSpPr>
          <p:cNvPr id="115" name="Shape 113"/>
          <p:cNvSpPr/>
          <p:nvPr/>
        </p:nvSpPr>
        <p:spPr>
          <a:xfrm>
            <a:off x="8531352" y="4919472"/>
            <a:ext cx="2816352" cy="173736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8621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7013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5405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31352" y="5120640"/>
            <a:ext cx="28163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8621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7013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35405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31352" y="5321808"/>
            <a:ext cx="2816352" cy="164592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8621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47013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35405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5522976"/>
            <a:ext cx="28163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8621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7013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35405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DESIGN BLUEPRINT • AGGREGATE CONTROL GAP IS DOCUMENTED; CAUSES ARE UNCONFIRMED</a:t>
            </a:r>
            <a:endParaRPr lang="en-US" sz="720" dirty="0"/>
          </a:p>
        </p:txBody>
      </p:sp>
      <p:sp>
        <p:nvSpPr>
          <p:cNvPr id="133" name="Text 131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1945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2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04  /  DESIGN BLUEPRINT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42062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— Delivery &amp; Customer Experience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7782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delivery reliability, source date quality and review outcomes without implying causation from correlation.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469880" y="438912"/>
            <a:ext cx="1124712" cy="256032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3032" y="4526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936B0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 CONCEPT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1283696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1097280" cy="475488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spc="100" kern="0" dirty="0">
                <a:solidFill>
                  <a:srgbClr val="AAC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5000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31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74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632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044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geo</a:t>
            </a:r>
            <a:endParaRPr lang="en-US" sz="74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7764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8B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D7E1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pay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94360" y="4434840"/>
            <a:ext cx="914400" cy="47548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48970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&amp; CX</a:t>
            </a:r>
            <a:endParaRPr lang="en-US" sz="74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57881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16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9527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AA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2016–2018</a:t>
            </a:r>
            <a:endParaRPr lang="en-US" sz="67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150876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Reliability &amp; Customer Feedback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92224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83664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336" y="1847088"/>
            <a:ext cx="1261872" cy="310896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8776" y="1892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792224" y="6099048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layout. Numbers are intentionally omitted until validated DAX measures populate the visuals.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1792224" y="2304288"/>
            <a:ext cx="1719072" cy="576072"/>
          </a:xfrm>
          <a:prstGeom prst="roundRect">
            <a:avLst/>
          </a:prstGeom>
          <a:solidFill>
            <a:srgbClr val="EAF1FD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83664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Avg delivery days</a:t>
            </a:r>
            <a:endParaRPr lang="en-US" sz="710" dirty="0"/>
          </a:p>
        </p:txBody>
      </p:sp>
      <p:sp>
        <p:nvSpPr>
          <p:cNvPr id="34" name="Text 32"/>
          <p:cNvSpPr txBox="1"/>
          <p:nvPr/>
        </p:nvSpPr>
        <p:spPr>
          <a:xfrm>
            <a:off x="1883664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85032" y="2304288"/>
            <a:ext cx="1719072" cy="576072"/>
          </a:xfrm>
          <a:prstGeom prst="roundRect">
            <a:avLst/>
          </a:prstGeom>
          <a:solidFill>
            <a:srgbClr val="E5F6E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76472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On-time rate</a:t>
            </a:r>
            <a:endParaRPr lang="en-US" sz="710" dirty="0"/>
          </a:p>
        </p:txBody>
      </p:sp>
      <p:sp>
        <p:nvSpPr>
          <p:cNvPr id="37" name="Text 35"/>
          <p:cNvSpPr txBox="1"/>
          <p:nvPr/>
        </p:nvSpPr>
        <p:spPr>
          <a:xfrm>
            <a:off x="3776472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304288"/>
            <a:ext cx="1719072" cy="576072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0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 orders</a:t>
            </a:r>
            <a:endParaRPr lang="en-US" sz="71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70648" y="2304288"/>
            <a:ext cx="1719072" cy="576072"/>
          </a:xfrm>
          <a:prstGeom prst="roundRect">
            <a:avLst/>
          </a:prstGeom>
          <a:solidFill>
            <a:srgbClr val="FFF5DC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62088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Avg delay days</a:t>
            </a:r>
            <a:endParaRPr lang="en-US" sz="710" dirty="0"/>
          </a:p>
        </p:txBody>
      </p:sp>
      <p:sp>
        <p:nvSpPr>
          <p:cNvPr id="43" name="Text 41"/>
          <p:cNvSpPr txBox="1"/>
          <p:nvPr/>
        </p:nvSpPr>
        <p:spPr>
          <a:xfrm>
            <a:off x="7562088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63456" y="2304288"/>
            <a:ext cx="1719072" cy="576072"/>
          </a:xfrm>
          <a:prstGeom prst="roundRect">
            <a:avLst/>
          </a:prstGeom>
          <a:solidFill>
            <a:srgbClr val="F2EA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54896" y="238658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576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score</a:t>
            </a:r>
            <a:endParaRPr lang="en-US" sz="710" dirty="0"/>
          </a:p>
        </p:txBody>
      </p:sp>
      <p:sp>
        <p:nvSpPr>
          <p:cNvPr id="46" name="Text 44"/>
          <p:cNvSpPr txBox="1"/>
          <p:nvPr/>
        </p:nvSpPr>
        <p:spPr>
          <a:xfrm>
            <a:off x="9454896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measure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92224" y="3054096"/>
            <a:ext cx="381304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01952" y="312724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days over time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947672" y="4062222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47672" y="3812591"/>
            <a:ext cx="3520440" cy="0"/>
          </a:xfrm>
          <a:prstGeom prst="line">
            <a:avLst/>
          </a:prstGeom>
          <a:noFill/>
          <a:ln w="6350">
            <a:solidFill>
              <a:srgbClr val="E7ED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22780" y="4087185"/>
            <a:ext cx="455280" cy="-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78059" y="4020617"/>
            <a:ext cx="420258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98318" y="4070543"/>
            <a:ext cx="455280" cy="-2246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53597" y="3845875"/>
            <a:ext cx="385237" cy="49926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38834" y="3895801"/>
            <a:ext cx="420258" cy="-166421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9092" y="3729380"/>
            <a:ext cx="385237" cy="58247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4329" y="3787628"/>
            <a:ext cx="385237" cy="-199705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566" y="3587923"/>
            <a:ext cx="280172" cy="66568"/>
          </a:xfrm>
          <a:prstGeom prst="line">
            <a:avLst/>
          </a:prstGeom>
          <a:noFill/>
          <a:ln w="21590">
            <a:solidFill>
              <a:srgbClr val="1554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33288" y="3054096"/>
            <a:ext cx="253288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843016" y="312724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score distribution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5824728" y="4233672"/>
            <a:ext cx="2350008" cy="0"/>
          </a:xfrm>
          <a:prstGeom prst="line">
            <a:avLst/>
          </a:prstGeom>
          <a:noFill/>
          <a:ln w="7620">
            <a:solidFill>
              <a:srgbClr val="C8D8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43016" y="4006508"/>
            <a:ext cx="219456" cy="227164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3889680"/>
            <a:ext cx="219456" cy="343992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1384" y="3928623"/>
            <a:ext cx="219456" cy="305049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30568" y="3733910"/>
            <a:ext cx="219456" cy="499762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59752" y="3805305"/>
            <a:ext cx="219456" cy="428367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88936" y="3649535"/>
            <a:ext cx="219456" cy="584137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18120" y="3766362"/>
            <a:ext cx="219456" cy="467310"/>
          </a:xfrm>
          <a:prstGeom prst="roundRect">
            <a:avLst/>
          </a:prstGeom>
          <a:solidFill>
            <a:srgbClr val="2F8CF4"/>
          </a:solidFill>
          <a:ln w="12700">
            <a:solidFill>
              <a:srgbClr val="2F8CF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75904" y="3054096"/>
            <a:ext cx="306324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85632" y="3127248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On-time rate by state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8485632" y="3465576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8686800" y="3465576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86800" y="3465576"/>
            <a:ext cx="2241194" cy="9235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485632" y="363108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75" name="Shape 73"/>
          <p:cNvSpPr/>
          <p:nvPr/>
        </p:nvSpPr>
        <p:spPr>
          <a:xfrm>
            <a:off x="8686800" y="3631082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86800" y="3631082"/>
            <a:ext cx="1824228" cy="9235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485632" y="3796589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8686800" y="3796589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6800" y="3796589"/>
            <a:ext cx="1589684" cy="9235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485632" y="3962095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81" name="Shape 79"/>
          <p:cNvSpPr/>
          <p:nvPr/>
        </p:nvSpPr>
        <p:spPr>
          <a:xfrm>
            <a:off x="8686800" y="3962095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86800" y="3962095"/>
            <a:ext cx="1172718" cy="9235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485632" y="4127602"/>
            <a:ext cx="164592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8686800" y="4127602"/>
            <a:ext cx="2606040" cy="9235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86800" y="4127602"/>
            <a:ext cx="859993" cy="92354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92224" y="4517136"/>
            <a:ext cx="37947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901952" y="4590288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Date quality / delivery status</a:t>
            </a:r>
            <a:endParaRPr lang="en-US" sz="820" dirty="0"/>
          </a:p>
        </p:txBody>
      </p:sp>
      <p:sp>
        <p:nvSpPr>
          <p:cNvPr id="88" name="Shape 86"/>
          <p:cNvSpPr/>
          <p:nvPr/>
        </p:nvSpPr>
        <p:spPr>
          <a:xfrm>
            <a:off x="2892704" y="4954311"/>
            <a:ext cx="683057" cy="683057"/>
          </a:xfrm>
          <a:prstGeom prst="ellipse">
            <a:avLst/>
          </a:prstGeom>
          <a:solidFill>
            <a:srgbClr val="EAF1FD"/>
          </a:solidFill>
          <a:ln w="114300">
            <a:solidFill>
              <a:srgbClr val="FF6B6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42977" y="5104583"/>
            <a:ext cx="382512" cy="3825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82923" y="4992624"/>
            <a:ext cx="64008" cy="64008"/>
          </a:xfrm>
          <a:prstGeom prst="ellipse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292651" y="4965192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4182923" y="5221224"/>
            <a:ext cx="64008" cy="64008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292651" y="5193792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B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4182923" y="5449824"/>
            <a:ext cx="64008" cy="64008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292651" y="5422392"/>
            <a:ext cx="11384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5724144" y="4517136"/>
            <a:ext cx="258775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833872" y="459028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Delay days by state</a:t>
            </a:r>
            <a:endParaRPr lang="en-US" sz="820" dirty="0"/>
          </a:p>
        </p:txBody>
      </p:sp>
      <p:sp>
        <p:nvSpPr>
          <p:cNvPr id="98" name="Text 96"/>
          <p:cNvSpPr txBox="1"/>
          <p:nvPr/>
        </p:nvSpPr>
        <p:spPr>
          <a:xfrm>
            <a:off x="5833872" y="4928616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640" dirty="0"/>
          </a:p>
        </p:txBody>
      </p:sp>
      <p:sp>
        <p:nvSpPr>
          <p:cNvPr id="99" name="Shape 97"/>
          <p:cNvSpPr/>
          <p:nvPr/>
        </p:nvSpPr>
        <p:spPr>
          <a:xfrm>
            <a:off x="6035040" y="4928616"/>
            <a:ext cx="2130552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35040" y="4928616"/>
            <a:ext cx="1832275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833872" y="5079492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6035040" y="5079492"/>
            <a:ext cx="2130552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35040" y="5079492"/>
            <a:ext cx="1491386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833872" y="5230368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40" dirty="0"/>
          </a:p>
        </p:txBody>
      </p:sp>
      <p:sp>
        <p:nvSpPr>
          <p:cNvPr id="105" name="Shape 103"/>
          <p:cNvSpPr/>
          <p:nvPr/>
        </p:nvSpPr>
        <p:spPr>
          <a:xfrm>
            <a:off x="6035040" y="5230368"/>
            <a:ext cx="2130552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35040" y="5230368"/>
            <a:ext cx="1299637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833872" y="5381244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6035040" y="5381244"/>
            <a:ext cx="2130552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35040" y="5381244"/>
            <a:ext cx="958748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833872" y="5532120"/>
            <a:ext cx="164592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40" dirty="0"/>
          </a:p>
        </p:txBody>
      </p:sp>
      <p:sp>
        <p:nvSpPr>
          <p:cNvPr id="111" name="Shape 109"/>
          <p:cNvSpPr/>
          <p:nvPr/>
        </p:nvSpPr>
        <p:spPr>
          <a:xfrm>
            <a:off x="6035040" y="5532120"/>
            <a:ext cx="2130552" cy="77724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EEF3FB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35040" y="5532120"/>
            <a:ext cx="703082" cy="77724"/>
          </a:xfrm>
          <a:prstGeom prst="roundRect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39912" y="4517136"/>
            <a:ext cx="2999232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549640" y="4590288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Orders for operational review</a:t>
            </a:r>
            <a:endParaRPr lang="en-US" sz="820" dirty="0"/>
          </a:p>
        </p:txBody>
      </p:sp>
      <p:sp>
        <p:nvSpPr>
          <p:cNvPr id="115" name="Shape 113"/>
          <p:cNvSpPr/>
          <p:nvPr/>
        </p:nvSpPr>
        <p:spPr>
          <a:xfrm>
            <a:off x="8531352" y="4919472"/>
            <a:ext cx="2816352" cy="173736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8621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7013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54056" y="4974336"/>
            <a:ext cx="624078" cy="32004"/>
          </a:xfrm>
          <a:prstGeom prst="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31352" y="5120640"/>
            <a:ext cx="28163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8621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7013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354056" y="5175504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31352" y="5321808"/>
            <a:ext cx="2816352" cy="164592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8621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47013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354056" y="5376672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5522976"/>
            <a:ext cx="28163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8621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7013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354056" y="5577840"/>
            <a:ext cx="624078" cy="32004"/>
          </a:xfrm>
          <a:prstGeom prst="rect">
            <a:avLst/>
          </a:prstGeom>
          <a:solidFill>
            <a:srgbClr val="C8D8EF"/>
          </a:solidFill>
          <a:ln w="12700">
            <a:solidFill>
              <a:srgbClr val="C8D8E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DESIGN BLUEPRINT • DEFINE ELIGIBLE DENOMINATORS BEFORE PUBLISHING RATES</a:t>
            </a:r>
            <a:endParaRPr lang="en-US" sz="720" dirty="0"/>
          </a:p>
        </p:txBody>
      </p:sp>
      <p:sp>
        <p:nvSpPr>
          <p:cNvPr id="133" name="Text 131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/ FINDINGS AND EVIDENCE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Separate the confirmed signal from the questions still open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executive presentation should make uncertainty visible—not hide it behind precise-looking charts.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prior documented checks [3]; project transformations observed in Power Query.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728216"/>
            <a:ext cx="53035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65960"/>
            <a:ext cx="1078992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19796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DOCUMENTED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5915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can say now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2990088"/>
            <a:ext cx="77724" cy="77724"/>
          </a:xfrm>
          <a:prstGeom prst="ellipse">
            <a:avLst/>
          </a:prstGeom>
          <a:solidFill>
            <a:srgbClr val="FF6B62"/>
          </a:solidFill>
          <a:ln w="12700">
            <a:solidFill>
              <a:srgbClr val="FF6B6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89864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C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aggregate exceeds items + freight by R$165,318.88 (~1.04%).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" y="3547872"/>
            <a:ext cx="77724" cy="77724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4564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C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Orders, items, payments and reviews have different grains; careless joins can duplicate counts or values.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" y="4215384"/>
            <a:ext cx="77724" cy="77724"/>
          </a:xfrm>
          <a:prstGeom prst="ellipse">
            <a:avLst/>
          </a:prstGeom>
          <a:solidFill>
            <a:srgbClr val="FFB52E"/>
          </a:solidFill>
          <a:ln w="12700">
            <a:solidFill>
              <a:srgbClr val="FFB52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41239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C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correction and imputation steps may materially affect sales KPIs.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" y="4800600"/>
            <a:ext cx="77724" cy="7772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C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sequence and geolocation handling require explicit controls.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1728216"/>
            <a:ext cx="5321808" cy="3611880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1965960"/>
            <a:ext cx="2029968" cy="256032"/>
          </a:xfrm>
          <a:prstGeom prst="roundRect">
            <a:avLst/>
          </a:prstGeom>
          <a:solidFill>
            <a:srgbClr val="214281"/>
          </a:solidFill>
          <a:ln w="12700">
            <a:solidFill>
              <a:srgbClr val="21428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197967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9E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EVIDENCE TO PRODUCE</a:t>
            </a:r>
            <a:endParaRPr lang="en-US" sz="76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359152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refreshed model must prove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5664" y="3081528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2990088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E5E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categories, states, cities and payment methods—with query outputs.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455664" y="3630168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38544" y="3538728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E5E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 rate with a transparent eligible-order denominator.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55664" y="4178808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38544" y="4087368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E5E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Order-level reconciliation exception list with explanations.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55664" y="4727448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38544" y="4636008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E5E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 for price imputations and negative-value fixes.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8368" y="5596128"/>
            <a:ext cx="10863072" cy="438912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FFF5DC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71500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8C65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not claim profit, loss or overpayment from the aggregate reconciliation gap alone.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/ RECOMMENDATIONS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Prioritize correctness first, optimization second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order of operations reduces the risk of automating the wrong answer.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recommendations derived from documented project risks and reconciliation checkpoint [3].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682496"/>
            <a:ext cx="10863072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65376"/>
            <a:ext cx="502920" cy="256032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879092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P1</a:t>
            </a:r>
            <a:endParaRPr lang="en-US" sz="82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17830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Close financial reconciliation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177393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item + freight and payment totals by order_id; rank absolute differences; document accepted explanations.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8887968" y="17922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FF6B6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Outcome: an auditable control, not just two totals.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58368" y="2487168"/>
            <a:ext cx="10863072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2670048"/>
            <a:ext cx="502920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268376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P1</a:t>
            </a:r>
            <a:endParaRPr lang="en-US" sz="82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58775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 data corrections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57860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 raw values and add flags for negative-price conversion, imputed prices, text repairs and date sequence issues.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8887968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Outcome: transparent KPI impact and reproducibility.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58368" y="3291840"/>
            <a:ext cx="10863072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3474720"/>
            <a:ext cx="502920" cy="256032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48843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P1</a:t>
            </a:r>
            <a:endParaRPr lang="en-US" sz="82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339242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Lock metric grain and relationships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895344" y="338328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unique keys; keep order, item, payment and review measures at the intended grain; test filter direction.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8887968" y="3401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Outcome: fewer duplicate rows and inflated metrics.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658368" y="4096512"/>
            <a:ext cx="10863072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4279392"/>
            <a:ext cx="502920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293108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P2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419709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Improve operational visibility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95344" y="418795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delivery days, delay days, on-time rate and missing/invalid dates by month and state.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8887968" y="4206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Outcome: actionable service-performance signals.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658368" y="4901184"/>
            <a:ext cx="10863072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5084064"/>
            <a:ext cx="502920" cy="256032"/>
          </a:xfrm>
          <a:prstGeom prst="roundRect">
            <a:avLst/>
          </a:prstGeom>
          <a:solidFill>
            <a:srgbClr val="F2EAFF"/>
          </a:solidFill>
          <a:ln w="12700">
            <a:solidFill>
              <a:srgbClr val="F2EA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09778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P3</a:t>
            </a:r>
            <a:endParaRPr lang="en-US" sz="82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00176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reviews to service context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895344" y="499262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 low scores by delivery experience and category; summarize comments with privacy-aware handling.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8887968" y="50109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Outcome: focused customer-experience investigation.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 / DELIVERY ROADMAP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30-day plan to move from analysis to controlled decisions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is intentionally sequenced: validate source and metric logic before finalizing published recommendations.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recommended implementation sequence based on the supplied assignment.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54203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2542032" cy="109728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21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 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916936"/>
            <a:ext cx="1143000" cy="256032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293065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Days 1–7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77724" cy="77724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4564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counts &amp; unique keys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22960" y="4041648"/>
            <a:ext cx="77724" cy="77724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9502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/ blank / orphan checks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22960" y="4535424"/>
            <a:ext cx="77724" cy="77724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4439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Order-level reconciliation table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456432" y="1874520"/>
            <a:ext cx="254203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6432" y="1874520"/>
            <a:ext cx="2542032" cy="109728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39312" y="2121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 02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639312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Standardize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639312" y="2916936"/>
            <a:ext cx="1143000" cy="256032"/>
          </a:xfrm>
          <a:prstGeom prst="roundRect">
            <a:avLst/>
          </a:prstGeom>
          <a:solidFill>
            <a:srgbClr val="E5F8FB"/>
          </a:solidFill>
          <a:ln w="12700">
            <a:solidFill>
              <a:srgbClr val="E5F8F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2464" y="293065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Days 8–14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3639312" y="3547872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22192" y="34564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KPI dictionary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3639312" y="4041648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22192" y="39502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 control totals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3639312" y="4535424"/>
            <a:ext cx="77724" cy="77724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22192" y="44439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for price changes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272784" y="1874520"/>
            <a:ext cx="254203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2784" y="1874520"/>
            <a:ext cx="2542032" cy="109728"/>
          </a:xfrm>
          <a:prstGeom prst="roundRect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55664" y="2121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 03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&amp; test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455664" y="2916936"/>
            <a:ext cx="1143000" cy="256032"/>
          </a:xfrm>
          <a:prstGeom prst="roundRect">
            <a:avLst/>
          </a:prstGeom>
          <a:solidFill>
            <a:srgbClr val="F2EAFF"/>
          </a:solidFill>
          <a:ln w="12700">
            <a:solidFill>
              <a:srgbClr val="F2EA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28816" y="293065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A66A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Days 15–21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6455664" y="3547872"/>
            <a:ext cx="77724" cy="77724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38544" y="34564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 Excel dashboard pair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6455664" y="4041648"/>
            <a:ext cx="77724" cy="77724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38544" y="39502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two Power BI deep dives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455664" y="4535424"/>
            <a:ext cx="77724" cy="77724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38544" y="44439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slicers &amp; navigation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9089136" y="1874520"/>
            <a:ext cx="254203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89136" y="1874520"/>
            <a:ext cx="2542032" cy="109728"/>
          </a:xfrm>
          <a:prstGeom prst="roundRect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72016" y="2121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 04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9272016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Communicate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272016" y="2916936"/>
            <a:ext cx="1143000" cy="2560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45168" y="293065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27A8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Days 22–30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9272016" y="3547872"/>
            <a:ext cx="77724" cy="7772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54896" y="34564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leading segments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9272016" y="4041648"/>
            <a:ext cx="77724" cy="7772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54896" y="39502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key exceptions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9272016" y="4535424"/>
            <a:ext cx="77724" cy="77724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54896" y="44439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 PDF + presentation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658368" y="5504688"/>
            <a:ext cx="10863072" cy="530352"/>
          </a:xfrm>
          <a:prstGeom prst="roundRect">
            <a:avLst/>
          </a:prstGeom>
          <a:solidFill>
            <a:srgbClr val="102A66"/>
          </a:solidFill>
          <a:ln w="12700">
            <a:solidFill>
              <a:srgbClr val="102A66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77824" y="56692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110" kern="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EXIT CRITERIA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2194560" y="56509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Reproducible totals • approved KPI definitions • tested navigation • cited findings • disclosed limitations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160" kern="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/ SUBMISSION READINESS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09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the final submission reproducible—not just visually polished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supplied brief lists eight deliverables; the report should only state completion when each artifact is available and tested.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11100816" cy="0"/>
          </a:xfrm>
          <a:prstGeom prst="line">
            <a:avLst/>
          </a:prstGeom>
          <a:noFill/>
          <a:ln w="10160">
            <a:solidFill>
              <a:srgbClr val="DBE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6510528"/>
            <a:ext cx="11100816" cy="0"/>
          </a:xfrm>
          <a:prstGeom prst="line">
            <a:avLst/>
          </a:prstGeom>
          <a:noFill/>
          <a:ln w="8890">
            <a:solidFill>
              <a:srgbClr val="DBE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565392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0A0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supplied Final Project brief, Final Deliverables section [2].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1109960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700784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865376"/>
            <a:ext cx="320040" cy="320040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920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77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1828800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Original dataset files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210312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 all nine CSVs and note the data source.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6236208" y="1700784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865376"/>
            <a:ext cx="320040" cy="320040"/>
          </a:xfrm>
          <a:prstGeom prst="ellipse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1920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770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1828800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 notebook (.ipynb)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10312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Cleaning, EDA, reproducible charts and key findings.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58368" y="2724912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2889504"/>
            <a:ext cx="320040" cy="3200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29443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2852928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script (.sql)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243584" y="312724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/ ERD DDL and analytics using joins, CTEs, subqueries and window functions.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236208" y="2724912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2889504"/>
            <a:ext cx="320040" cy="320040"/>
          </a:xfrm>
          <a:prstGeom prst="ellipse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29443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770" dirty="0"/>
          </a:p>
        </p:txBody>
      </p:sp>
      <p:sp>
        <p:nvSpPr>
          <p:cNvPr id="27" name="Text 25"/>
          <p:cNvSpPr txBox="1"/>
          <p:nvPr/>
        </p:nvSpPr>
        <p:spPr>
          <a:xfrm>
            <a:off x="6821424" y="2852928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ERD / relational schema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21424" y="312724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PK/FK, data types, relationship grain and assumptions.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58368" y="3749040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3913632"/>
            <a:ext cx="320040" cy="320040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39684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770" dirty="0"/>
          </a:p>
        </p:txBody>
      </p:sp>
      <p:sp>
        <p:nvSpPr>
          <p:cNvPr id="32" name="Text 30"/>
          <p:cNvSpPr txBox="1"/>
          <p:nvPr/>
        </p:nvSpPr>
        <p:spPr>
          <a:xfrm>
            <a:off x="1243584" y="3877056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Excel workbook (.xlsx)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243584" y="415137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interactive dashboards with consistent KPIs.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6236208" y="3749040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3913632"/>
            <a:ext cx="320040" cy="320040"/>
          </a:xfrm>
          <a:prstGeom prst="ellipse">
            <a:avLst/>
          </a:prstGeom>
          <a:solidFill>
            <a:srgbClr val="A66AF5"/>
          </a:solidFill>
          <a:ln w="12700">
            <a:solidFill>
              <a:srgbClr val="A66AF5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82512" y="39684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770" dirty="0"/>
          </a:p>
        </p:txBody>
      </p:sp>
      <p:sp>
        <p:nvSpPr>
          <p:cNvPr id="37" name="Text 35"/>
          <p:cNvSpPr txBox="1"/>
          <p:nvPr/>
        </p:nvSpPr>
        <p:spPr>
          <a:xfrm>
            <a:off x="6821424" y="3877056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report (.pbix)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821424" y="415137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deep-analysis dashboards; verify refresh and interactions.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658368" y="4773168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4937760"/>
            <a:ext cx="320040" cy="320040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" y="49926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770" dirty="0"/>
          </a:p>
        </p:txBody>
      </p:sp>
      <p:sp>
        <p:nvSpPr>
          <p:cNvPr id="42" name="Text 40"/>
          <p:cNvSpPr txBox="1"/>
          <p:nvPr/>
        </p:nvSpPr>
        <p:spPr>
          <a:xfrm>
            <a:off x="1243584" y="4901184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PDF report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243584" y="517550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methods, findings, recommendations and limitations.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6236208" y="4773168"/>
            <a:ext cx="532180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5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82512" y="4937760"/>
            <a:ext cx="320040" cy="320040"/>
          </a:xfrm>
          <a:prstGeom prst="ellipse">
            <a:avLst/>
          </a:prstGeom>
          <a:solidFill>
            <a:srgbClr val="27A879"/>
          </a:solidFill>
          <a:ln w="12700">
            <a:solidFill>
              <a:srgbClr val="27A879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82512" y="49926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770" dirty="0"/>
          </a:p>
        </p:txBody>
      </p:sp>
      <p:sp>
        <p:nvSpPr>
          <p:cNvPr id="47" name="Text 45"/>
          <p:cNvSpPr txBox="1"/>
          <p:nvPr/>
        </p:nvSpPr>
        <p:spPr>
          <a:xfrm>
            <a:off x="6821424" y="4901184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02A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PowerPoint (.pptx)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821424" y="517550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6576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problem, methodology, data model, dashboards and recommendations.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658368" y="5925312"/>
            <a:ext cx="10863072" cy="274320"/>
          </a:xfrm>
          <a:prstGeom prst="roundRect">
            <a:avLst/>
          </a:prstGeom>
          <a:solidFill>
            <a:srgbClr val="EAF1FD"/>
          </a:solidFill>
          <a:ln w="12700">
            <a:solidFill>
              <a:srgbClr val="EAF1FD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" y="5980176"/>
            <a:ext cx="10469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554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QA: refresh all sources • reconcile control totals • capture dashboard evidence • align KPI definitions across tools.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2A1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4D"/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02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spc="150" kern="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/ REFERENCES &amp; ASSUMPTIONS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961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first.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Assumptions disclosed.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822960" cy="54864"/>
          </a:xfrm>
          <a:prstGeom prst="roundRect">
            <a:avLst/>
          </a:prstGeom>
          <a:solidFill>
            <a:srgbClr val="1554D1"/>
          </a:solidFill>
          <a:ln w="12700">
            <a:solidFill>
              <a:srgbClr val="1554D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331720"/>
            <a:ext cx="457200" cy="54864"/>
          </a:xfrm>
          <a:prstGeom prst="roundRect">
            <a:avLst/>
          </a:prstGeom>
          <a:solidFill>
            <a:srgbClr val="12B8D5"/>
          </a:solidFill>
          <a:ln w="12700">
            <a:solidFill>
              <a:srgbClr val="12B8D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6791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[1] Olist dataset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679192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2D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Brazilian E-Commerce Public Dataset by Olist (Kaggle). About 100,000 orders from 2016–2018 across product, customer, payment, freight and review attributes.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8613648" y="2679192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8DA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https://www.kaggle.com/olistbr/brazilian-ecommerce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13232" y="3282696"/>
            <a:ext cx="10671048" cy="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42900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[2] Assignment brief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429000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2D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Project(1).pdf supplied in this conversation. Requirements cover business understanding, Python cleaning/EDA, SQL/ERD, two Excel dashboards, two Power BI dashboards, insights/recommendations, PDF and PowerPoint.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8613648" y="342900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8DA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User-provided project brief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13232" y="4032504"/>
            <a:ext cx="10671048" cy="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17880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[3] Project validation artifacts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4178808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2D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Query diagnostic export, provided model fields, and previously documented control totals: items + freight R$15,843,553.24; payments R$16,008,872.12. Not independently recomputed during slide authoring.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8613648" y="417880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8DA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artifacts / recorded checkpoints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13232" y="4782312"/>
            <a:ext cx="10671048" cy="0"/>
          </a:xfrm>
          <a:prstGeom prst="line">
            <a:avLst/>
          </a:prstGeom>
          <a:noFill/>
          <a:ln w="8890">
            <a:solidFill>
              <a:srgbClr val="2845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92861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2B8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[4] Analytical caveat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928616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2D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numerical rankings are asserted for leading states, categories, cities, payment methods or review segments without verified query output. Dashboard slides are design blueprints until bound to the refreshed model.</a:t>
            </a:r>
            <a:endParaRPr lang="en-US" sz="840" dirty="0"/>
          </a:p>
        </p:txBody>
      </p:sp>
      <p:sp>
        <p:nvSpPr>
          <p:cNvPr id="21" name="Text 19"/>
          <p:cNvSpPr txBox="1"/>
          <p:nvPr/>
        </p:nvSpPr>
        <p:spPr>
          <a:xfrm>
            <a:off x="8613648" y="4928616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8DA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statement</a:t>
            </a:r>
            <a:endParaRPr lang="en-US" sz="72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6355080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20" kern="0" dirty="0">
                <a:solidFill>
                  <a:srgbClr val="8CA7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 E-COMMERCE ANALYTICS  •  END OF PRESENTATION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11082528" y="63185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FB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Olist Analytics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 — Final Project Presentation</dc:title>
  <dc:subject>End-to-end Olist e-commerce analytics project</dc:subject>
  <dc:creator>OpenAI</dc:creator>
  <cp:lastModifiedBy>OpenAI</cp:lastModifiedBy>
  <cp:revision>1</cp:revision>
  <dcterms:created xsi:type="dcterms:W3CDTF">2026-10-13T17:59:29Z</dcterms:created>
  <dcterms:modified xsi:type="dcterms:W3CDTF">2026-10-13T17:59:29Z</dcterms:modified>
</cp:coreProperties>
</file>